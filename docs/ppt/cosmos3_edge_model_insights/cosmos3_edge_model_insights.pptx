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讲解要点：左侧严格按 STEP 1→4 阅读。先把服务侧预处理折叠成 video/action/prompt 三路输入；prepare_data_total 分别完成单帧前缀 VAE、文本 tokenize，并按 text→vision→action 顺序打包，同时初始化联合噪声；sampler_total 的条件与无条件分支读取同一 joint latent，CFG 合流后由 UniPC 更新这个共享状态，再回送给下一步的两条分支；默认 guidance=3、4 个 UniPC step，因此共 8 次 MoT 前向。最后拆成 action 和可选 video 两路输出。右侧参数采用 Cosmos 3 与 LingBot-VA 官方论文/模型卡口径。具身创新聚焦 action-as-transition、跨本体 SE(3) 动作表示，以及 FD/ID/Policy 联合训练。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讲解要点：RoboLab 客户端运行在 RTX 4090，观测通过 SSH 端口转发后的 WebSocket 发往 H100 上的 Cosmos3-Edge Policy Server，返回 [32,8] action 后闭环执行。报告覆盖 requests 1–5，正式稳定态只取 warmup=false 的 request 4–5，均值 377.79 ms；n=2 只能用于初步性能判断，不能给出可靠 P95/P99。4-step、guidance=3 每请求执行 4 次 conditional 和 4 次 unconditional。network_forward 的 222.635 ms 是 8 次调用的累计值，不是单次 forward；sampler 总计 231.83 ms。理论计算量 117.087 TFLOPs/request，其中 MoT joint forward 为 115.973 TFLOPs，是首要 GPU 瓶颈。稳定峰值显存为 8438.66 MiB allocated、8644 MiB reserved，request 2–5 无增长。首请求 22.00 秒来自编译和初始化，部署前必须执行 2–3 次相同 shape 的 readiness warmup。模型效果区域由用户补入素材。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23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81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47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7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4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2743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352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3962399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181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5791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55600" y="254000"/>
            <a:ext cx="5461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5600" y="254000"/>
            <a:ext cx="546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MODEL 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000" y="215900"/>
            <a:ext cx="749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4213D"/>
                </a:solidFill>
                <a:latin typeface="Microsoft YaHei"/>
              </a:defRPr>
            </a:pPr>
            <a:r>
              <a:t>NVIDIA Cosmos3-Edge｜模型洞察与竞品分析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6000" y="603250"/>
            <a:ext cx="7493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5E6B82"/>
                </a:solidFill>
                <a:latin typeface="Microsoft YaHei"/>
              </a:defRPr>
            </a:pPr>
            <a:r>
              <a:t>模型分析情况：单次推理架构 · 参数/计算结构 · 具身关键创新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71000" y="285750"/>
            <a:ext cx="2565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677FF"/>
                </a:solidFill>
                <a:latin typeface="Microsoft YaHei"/>
              </a:defRPr>
            </a:pPr>
            <a:r>
              <a:t>EDGE POLICY · DROID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1000" y="501650"/>
            <a:ext cx="25654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32-step observed runtime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55600" y="889000"/>
            <a:ext cx="11480800" cy="0"/>
          </a:xfrm>
          <a:prstGeom prst="line">
            <a:avLst/>
          </a:prstGeom>
          <a:ln w="12700">
            <a:solidFill>
              <a:srgbClr val="D9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5600" y="1054100"/>
            <a:ext cx="7162800" cy="543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20700" y="1193800"/>
            <a:ext cx="2794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0700" y="11938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9000" y="1162050"/>
            <a:ext cx="482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4213D"/>
                </a:solidFill>
                <a:latin typeface="Microsoft YaHei"/>
              </a:defRPr>
            </a:pPr>
            <a:r>
              <a:t>Edge 单次推理框图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99100" y="1200150"/>
            <a:ext cx="1816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去除 WebSocket I/O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3400" y="1536700"/>
            <a:ext cx="5588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3400" y="15367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8400" y="1536700"/>
            <a:ext cx="120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输入汇聚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3400" y="1790700"/>
            <a:ext cx="1371600" cy="16383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7700" y="1879599"/>
            <a:ext cx="1143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Input &amp; Batch Prep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700" y="2082800"/>
            <a:ext cx="1143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build_sample / transform / batch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7700" y="2374900"/>
            <a:ext cx="1143000" cy="3175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1200" y="2400300"/>
            <a:ext cx="1016000" cy="120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09A9C8"/>
                </a:solidFill>
                <a:latin typeface="Microsoft YaHei"/>
              </a:defRPr>
            </a:pPr>
            <a:r>
              <a:t>VIDEO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200" y="2520950"/>
            <a:ext cx="10160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[1,3,33,544,736]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7700" y="2768600"/>
            <a:ext cx="1143000" cy="3175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1200" y="2794000"/>
            <a:ext cx="1016000" cy="120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E69A24"/>
                </a:solidFill>
                <a:latin typeface="Microsoft YaHei"/>
              </a:defRPr>
            </a:pPr>
            <a:r>
              <a:t>ACTION / STATE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1200" y="2914650"/>
            <a:ext cx="10160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batch [1,33,64] · sample [33,64]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7700" y="3162300"/>
            <a:ext cx="1143000" cy="3175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1200" y="3187700"/>
            <a:ext cx="1016000" cy="120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1677FF"/>
                </a:solidFill>
                <a:latin typeface="Microsoft YaHei"/>
              </a:defRPr>
            </a:pPr>
            <a:r>
              <a:t>PROMPT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1200" y="3308350"/>
            <a:ext cx="10160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cond / uncond text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032000" y="1498600"/>
            <a:ext cx="5130800" cy="2120900"/>
          </a:xfrm>
          <a:prstGeom prst="roundRect">
            <a:avLst/>
          </a:prstGeom>
          <a:solidFill>
            <a:srgbClr val="F9FBFE"/>
          </a:solidFill>
          <a:ln w="19050">
            <a:solidFill>
              <a:srgbClr val="8FB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146300" y="1600200"/>
            <a:ext cx="5588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46300" y="16002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81300" y="1600200"/>
            <a:ext cx="11176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81300" y="1600200"/>
            <a:ext cx="1117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prepare_data_total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00500" y="1612900"/>
            <a:ext cx="2959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5E6B82"/>
                </a:solidFill>
                <a:latin typeface="Microsoft YaHei"/>
              </a:defRPr>
            </a:pPr>
            <a:r>
              <a:t>模态编码 → 顺序打包 → 联合扩散初值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209800" y="1993899"/>
            <a:ext cx="1460500" cy="6858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8C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209800" y="1993899"/>
            <a:ext cx="44450" cy="6858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324100" y="2063750"/>
            <a:ext cx="1270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VAE Encoder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24100" y="2254250"/>
            <a:ext cx="1270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仅 frame 0 前缀编码</a:t>
            </a:r>
            <a:br/>
            <a:r>
              <a:t>raw [1,48,9,34,46]</a:t>
            </a:r>
            <a:br/>
            <a:r>
              <a:t>crop → [1,48,9,33,40]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327400" y="2051049"/>
            <a:ext cx="266700" cy="2159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27400" y="2051049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209800" y="2882900"/>
            <a:ext cx="1460500" cy="5207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209800" y="2882900"/>
            <a:ext cx="44450" cy="5207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24100" y="2952750"/>
            <a:ext cx="1270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Tokenize Text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24100" y="3143250"/>
            <a:ext cx="127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cond 105→107 · uncond 17→19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327400" y="2940050"/>
            <a:ext cx="2667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27400" y="29400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917700" y="2317750"/>
            <a:ext cx="266700" cy="215900"/>
          </a:xfrm>
          <a:prstGeom prst="line">
            <a:avLst/>
          </a:prstGeom>
          <a:ln w="25400">
            <a:solidFill>
              <a:srgbClr val="09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 rot="3060540">
            <a:off x="2127250" y="226060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1917700" y="2927350"/>
            <a:ext cx="127000" cy="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044700" y="2927350"/>
            <a:ext cx="0" cy="55245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044700" y="3479800"/>
            <a:ext cx="2031999" cy="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076699" y="3149600"/>
            <a:ext cx="0" cy="33020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076699" y="3149600"/>
            <a:ext cx="101601" cy="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4121150" y="3092450"/>
            <a:ext cx="114300" cy="114300"/>
          </a:xfrm>
          <a:prstGeom prst="triangle">
            <a:avLst/>
          </a:prstGeom>
          <a:solidFill>
            <a:srgbClr val="E6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V="1">
            <a:off x="1917700" y="3143250"/>
            <a:ext cx="266700" cy="17780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3378596">
            <a:off x="2127250" y="308610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28900" y="3378200"/>
            <a:ext cx="13081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E69A24"/>
                </a:solidFill>
                <a:latin typeface="Microsoft YaHei"/>
              </a:defRPr>
            </a:pPr>
            <a:r>
              <a:t>ACTION LATENT [33,64]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03700" y="1930400"/>
            <a:ext cx="2781300" cy="1473200"/>
          </a:xfrm>
          <a:prstGeom prst="roundRect">
            <a:avLst/>
          </a:prstGeom>
          <a:solidFill>
            <a:srgbClr val="FFF5E4"/>
          </a:solidFill>
          <a:ln w="19050">
            <a:solidFill>
              <a:srgbClr val="E8B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318000" y="2032000"/>
            <a:ext cx="12192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18000" y="2032000"/>
            <a:ext cx="12192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PACK + NOISE INIT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13400" y="2038349"/>
            <a:ext cx="12573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1">
                <a:solidFill>
                  <a:srgbClr val="14213D"/>
                </a:solidFill>
                <a:latin typeface="Microsoft YaHei"/>
              </a:defRPr>
            </a:pPr>
            <a:r>
              <a:t>严格 token 顺序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695700" y="2324100"/>
            <a:ext cx="482600" cy="63500"/>
          </a:xfrm>
          <a:prstGeom prst="line">
            <a:avLst/>
          </a:prstGeom>
          <a:ln w="25400">
            <a:solidFill>
              <a:srgbClr val="09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849751">
            <a:off x="4121150" y="233045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721100" y="2171700"/>
            <a:ext cx="4445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09A9C8"/>
                </a:solidFill>
                <a:latin typeface="Microsoft YaHei"/>
              </a:defRPr>
            </a:pPr>
            <a:r>
              <a:t>V-LATENT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3695700" y="2882900"/>
            <a:ext cx="482600" cy="26670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sosceles Triangle 128"/>
          <p:cNvSpPr/>
          <p:nvPr/>
        </p:nvSpPr>
        <p:spPr>
          <a:xfrm rot="3664414">
            <a:off x="4121150" y="28257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708400" y="3022600"/>
            <a:ext cx="4572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677FF"/>
                </a:solidFill>
                <a:latin typeface="Microsoft YaHei"/>
              </a:defRPr>
            </a:pPr>
            <a:r>
              <a:t>TEXT IDS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330700" y="2349500"/>
            <a:ext cx="711200" cy="3810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30700" y="2393950"/>
            <a:ext cx="7112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1677FF"/>
                </a:solidFill>
                <a:latin typeface="Microsoft YaHei"/>
              </a:defRPr>
            </a:pPr>
            <a:r>
              <a:t>① TEXT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330700" y="2546350"/>
            <a:ext cx="711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C107 / U19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067300" y="2349500"/>
            <a:ext cx="914400" cy="3810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67300" y="2393950"/>
            <a:ext cx="9144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09A9C8"/>
                </a:solidFill>
                <a:latin typeface="Microsoft YaHei"/>
              </a:defRPr>
            </a:pPr>
            <a:r>
              <a:t>② VISION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67300" y="2546350"/>
            <a:ext cx="9144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3060 patches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007100" y="2349500"/>
            <a:ext cx="838200" cy="3810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07100" y="2393950"/>
            <a:ext cx="8382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20A464"/>
                </a:solidFill>
                <a:latin typeface="Microsoft YaHei"/>
              </a:defRPr>
            </a:pPr>
            <a:r>
              <a:t>③ ACTION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07100" y="2546350"/>
            <a:ext cx="8382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33 tokens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5041900" y="2540000"/>
            <a:ext cx="12700" cy="0"/>
          </a:xfrm>
          <a:prstGeom prst="line">
            <a:avLst/>
          </a:prstGeom>
          <a:ln w="127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5400000">
            <a:off x="4997450" y="24828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5981700" y="2540000"/>
            <a:ext cx="12700" cy="0"/>
          </a:xfrm>
          <a:prstGeom prst="line">
            <a:avLst/>
          </a:prstGeom>
          <a:ln w="12700">
            <a:solidFill>
              <a:srgbClr val="09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/>
          <p:cNvSpPr/>
          <p:nvPr/>
        </p:nvSpPr>
        <p:spPr>
          <a:xfrm rot="5400000">
            <a:off x="5937250" y="248285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30700" y="2800350"/>
            <a:ext cx="25146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183B66"/>
                </a:solidFill>
                <a:latin typeface="Microsoft YaHei"/>
              </a:defRPr>
            </a:pPr>
            <a:r>
              <a:t>packed hidden: cond [3200,2048] · uncond [3112,2048]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330700" y="2984500"/>
            <a:ext cx="2514600" cy="30480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9A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94200" y="3009900"/>
            <a:ext cx="2387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D94A5A"/>
                </a:solidFill>
                <a:latin typeface="Microsoft YaHei"/>
              </a:defRPr>
            </a:pPr>
            <a:r>
              <a:t>JOINT NOISE / LATENT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94200" y="3136900"/>
            <a:ext cx="23876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noise_v [1,48,9,33,40]  +  noise_a [33,64]  → flat [572352]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588000" y="3429000"/>
            <a:ext cx="0" cy="304799"/>
          </a:xfrm>
          <a:prstGeom prst="line">
            <a:avLst/>
          </a:prstGeom>
          <a:ln w="317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35000" y="3733799"/>
            <a:ext cx="4953000" cy="0"/>
          </a:xfrm>
          <a:prstGeom prst="line">
            <a:avLst/>
          </a:prstGeom>
          <a:ln w="317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35000" y="3733799"/>
            <a:ext cx="0" cy="482601"/>
          </a:xfrm>
          <a:prstGeom prst="line">
            <a:avLst/>
          </a:prstGeom>
          <a:ln w="317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sosceles Triangle 150"/>
          <p:cNvSpPr/>
          <p:nvPr/>
        </p:nvSpPr>
        <p:spPr>
          <a:xfrm rot="10800000">
            <a:off x="577850" y="4159249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2590800" y="3638550"/>
            <a:ext cx="2247900" cy="1905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590800" y="3638550"/>
            <a:ext cx="22479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FFFFFF"/>
                </a:solidFill>
                <a:latin typeface="Microsoft YaHei"/>
              </a:defRPr>
            </a:pPr>
            <a:r>
              <a:t>PACKED CONDITIONS + JOINT LATENT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33400" y="3873499"/>
            <a:ext cx="6629400" cy="1638300"/>
          </a:xfrm>
          <a:prstGeom prst="roundRect">
            <a:avLst/>
          </a:prstGeom>
          <a:solidFill>
            <a:srgbClr val="F9FBFE"/>
          </a:solidFill>
          <a:ln w="19050">
            <a:solidFill>
              <a:srgbClr val="8FB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11200" y="3968750"/>
            <a:ext cx="5588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1200" y="396875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346200" y="3968750"/>
            <a:ext cx="9017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346200" y="3968750"/>
            <a:ext cx="901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sampler_total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362200" y="3987799"/>
            <a:ext cx="3302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5E6B82"/>
                </a:solidFill>
                <a:latin typeface="Microsoft YaHei"/>
              </a:defRPr>
            </a:pPr>
            <a:r>
              <a:t>双分支 MoT 去噪 → CFG 合流 → joint latent 更新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07100" y="3962399"/>
            <a:ext cx="10033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007100" y="3962399"/>
            <a:ext cx="10033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UniPC × 4 steps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36600" y="4292600"/>
            <a:ext cx="1993899" cy="4572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736600" y="4292600"/>
            <a:ext cx="44450" cy="4572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50900" y="4362450"/>
            <a:ext cx="18034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14213D"/>
                </a:solidFill>
                <a:latin typeface="Microsoft YaHei"/>
              </a:defRPr>
            </a:pPr>
            <a:r>
              <a:t>Conditional MoT forward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50900" y="4552950"/>
            <a:ext cx="18034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C [3200,2048] → v_c{video, action}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387600" y="4349750"/>
            <a:ext cx="2667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387600" y="43497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36600" y="4889500"/>
            <a:ext cx="1993899" cy="4445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736600" y="4889500"/>
            <a:ext cx="44450" cy="4445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50900" y="4959350"/>
            <a:ext cx="18034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00" b="1">
                <a:solidFill>
                  <a:srgbClr val="14213D"/>
                </a:solidFill>
                <a:latin typeface="Microsoft YaHei"/>
              </a:defRPr>
            </a:pPr>
            <a:r>
              <a:t>Unconditional MoT forward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50900" y="5149850"/>
            <a:ext cx="18034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U [3112,2048] → v_u · guidance≠1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387600" y="4946650"/>
            <a:ext cx="2667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387600" y="49466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U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96900" y="4178300"/>
            <a:ext cx="76200" cy="762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635000" y="4216400"/>
            <a:ext cx="0" cy="895350"/>
          </a:xfrm>
          <a:prstGeom prst="line">
            <a:avLst/>
          </a:prstGeom>
          <a:ln w="2540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635000" y="4521200"/>
            <a:ext cx="76200" cy="0"/>
          </a:xfrm>
          <a:prstGeom prst="line">
            <a:avLst/>
          </a:prstGeom>
          <a:ln w="2540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5400000">
            <a:off x="654050" y="446405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635000" y="5111750"/>
            <a:ext cx="76200" cy="0"/>
          </a:xfrm>
          <a:prstGeom prst="line">
            <a:avLst/>
          </a:prstGeom>
          <a:ln w="2540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Isosceles Triangle 178"/>
          <p:cNvSpPr/>
          <p:nvPr/>
        </p:nvSpPr>
        <p:spPr>
          <a:xfrm rot="5400000">
            <a:off x="654050" y="505460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2755900" y="4521200"/>
            <a:ext cx="520700" cy="16510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Isosceles Triangle 180"/>
          <p:cNvSpPr/>
          <p:nvPr/>
        </p:nvSpPr>
        <p:spPr>
          <a:xfrm rot="6455545">
            <a:off x="3219450" y="46291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 flipV="1">
            <a:off x="2755900" y="4965700"/>
            <a:ext cx="520700" cy="146050"/>
          </a:xfrm>
          <a:prstGeom prst="line">
            <a:avLst/>
          </a:prstGeom>
          <a:ln w="2540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/>
          <p:cNvSpPr/>
          <p:nvPr/>
        </p:nvSpPr>
        <p:spPr>
          <a:xfrm rot="4459910">
            <a:off x="3219450" y="490855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iamond 183"/>
          <p:cNvSpPr/>
          <p:nvPr/>
        </p:nvSpPr>
        <p:spPr>
          <a:xfrm>
            <a:off x="3302000" y="4508500"/>
            <a:ext cx="965200" cy="660400"/>
          </a:xfrm>
          <a:prstGeom prst="diamond">
            <a:avLst/>
          </a:prstGeom>
          <a:solidFill>
            <a:srgbClr val="FFF5E4"/>
          </a:solidFill>
          <a:ln w="1524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390900" y="4629150"/>
            <a:ext cx="7874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14213D"/>
                </a:solidFill>
                <a:latin typeface="Microsoft YaHei"/>
              </a:defRPr>
            </a:pPr>
            <a:r>
              <a:t>CFG MERGE</a:t>
            </a:r>
            <a:br/>
            <a:r>
              <a:t>v = v_u + 3(v_c−v_u)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4292600" y="4838700"/>
            <a:ext cx="254000" cy="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Isosceles Triangle 186"/>
          <p:cNvSpPr/>
          <p:nvPr/>
        </p:nvSpPr>
        <p:spPr>
          <a:xfrm rot="5400000">
            <a:off x="4489450" y="4781550"/>
            <a:ext cx="114300" cy="114300"/>
          </a:xfrm>
          <a:prstGeom prst="triangle">
            <a:avLst/>
          </a:prstGeom>
          <a:solidFill>
            <a:srgbClr val="E6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4572000" y="4419600"/>
            <a:ext cx="2400300" cy="8001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4572000" y="4419600"/>
            <a:ext cx="44450" cy="8001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686300" y="4489450"/>
            <a:ext cx="22098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Joint latent update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86300" y="4679950"/>
            <a:ext cx="22098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UniPC 同步更新两种生成状态</a:t>
            </a:r>
            <a:br/>
            <a:r>
              <a:t>video latent [1,48,9,33,40]</a:t>
            </a:r>
            <a:br/>
            <a:r>
              <a:t>action latent [33,64]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629400" y="4476750"/>
            <a:ext cx="2667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629400" y="44767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Z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5765800" y="5245100"/>
            <a:ext cx="0" cy="16510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>
            <a:off x="469899" y="5410200"/>
            <a:ext cx="5295901" cy="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469899" y="4216400"/>
            <a:ext cx="0" cy="119380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69899" y="4216400"/>
            <a:ext cx="127001" cy="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Isosceles Triangle 197"/>
          <p:cNvSpPr/>
          <p:nvPr/>
        </p:nvSpPr>
        <p:spPr>
          <a:xfrm rot="5400000">
            <a:off x="539750" y="4159249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895600" y="5283200"/>
            <a:ext cx="21844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20A464"/>
                </a:solidFill>
                <a:latin typeface="Microsoft YaHei"/>
              </a:defRPr>
            </a:pPr>
            <a:r>
              <a:t>STEP 1→4 · 共 8 次 MoT forward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533400" y="5651500"/>
            <a:ext cx="6629400" cy="68580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647700" y="5746750"/>
            <a:ext cx="5588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47700" y="574675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95400" y="5753100"/>
            <a:ext cx="952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生成输出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6134100" y="5245100"/>
            <a:ext cx="0" cy="34290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2692400" y="5588000"/>
            <a:ext cx="3441700" cy="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2692400" y="5588000"/>
            <a:ext cx="0" cy="22860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Isosceles Triangle 206"/>
          <p:cNvSpPr/>
          <p:nvPr/>
        </p:nvSpPr>
        <p:spPr>
          <a:xfrm rot="10800000">
            <a:off x="2635250" y="5759450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H="1">
            <a:off x="5232400" y="5588000"/>
            <a:ext cx="901700" cy="0"/>
          </a:xfrm>
          <a:prstGeom prst="line">
            <a:avLst/>
          </a:prstGeom>
          <a:ln w="25400">
            <a:solidFill>
              <a:srgbClr val="09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5232400" y="5588000"/>
            <a:ext cx="0" cy="228600"/>
          </a:xfrm>
          <a:prstGeom prst="line">
            <a:avLst/>
          </a:prstGeom>
          <a:ln w="25400">
            <a:solidFill>
              <a:srgbClr val="09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Isosceles Triangle 209"/>
          <p:cNvSpPr/>
          <p:nvPr/>
        </p:nvSpPr>
        <p:spPr>
          <a:xfrm rot="10800000">
            <a:off x="5175250" y="575945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2273300" y="5842000"/>
            <a:ext cx="2286000" cy="3810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362200" y="5880100"/>
            <a:ext cx="2108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20A464"/>
                </a:solidFill>
                <a:latin typeface="Microsoft YaHei"/>
              </a:defRPr>
            </a:pPr>
            <a:r>
              <a:t>ACTION GENERATION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362200" y="6026150"/>
            <a:ext cx="21082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[33,64] → postprocess → robot action [32,8]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686300" y="5842000"/>
            <a:ext cx="2324100" cy="3810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8C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775200" y="5880100"/>
            <a:ext cx="21463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09A9C8"/>
                </a:solidFill>
                <a:latin typeface="Microsoft YaHei"/>
              </a:defRPr>
            </a:pPr>
            <a:r>
              <a:t>VIDEO GENERATION（可选）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775200" y="6026150"/>
            <a:ext cx="21463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[1,48,9,33,40] → VAE Decoder → future video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670800" y="1054100"/>
            <a:ext cx="4165600" cy="267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7823200" y="1193800"/>
            <a:ext cx="2794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823200" y="11938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191500" y="1155700"/>
            <a:ext cx="3175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参数与计算结构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823200" y="1454150"/>
            <a:ext cx="38480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采用官方口径；FLOPs 未统一披露，以 denoiser 次数作复杂度 proxy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823200" y="1714500"/>
            <a:ext cx="952500" cy="27940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854950" y="1714500"/>
            <a:ext cx="889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775700" y="1714500"/>
            <a:ext cx="927100" cy="279400"/>
          </a:xfrm>
          <a:prstGeom prst="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807450" y="1714500"/>
            <a:ext cx="8636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Cosmos3 Edge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702800" y="1714500"/>
            <a:ext cx="927100" cy="279400"/>
          </a:xfrm>
          <a:prstGeom prst="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734550" y="1714500"/>
            <a:ext cx="8636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Cosmos3 Nano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629900" y="1714500"/>
            <a:ext cx="1054100" cy="27940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661650" y="1714500"/>
            <a:ext cx="9905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LingBot-VA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823200" y="1993899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861299" y="1993899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总参 / 激活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775700" y="1993899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813800" y="1993899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4B / dense 2B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9702800" y="1993899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740900" y="1993899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16B / dense 8B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629900" y="1993899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668000" y="1993899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5.3B</a:t>
            </a:r>
            <a:br/>
            <a:r>
              <a:t>(5B+~350M)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823200" y="230505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861299" y="230505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层数 · hidden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775700" y="23050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813800" y="23050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28 · 2048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702800" y="23050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740900" y="23050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36 · 4096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0629900" y="2305050"/>
            <a:ext cx="1054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0668000" y="230505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30 · 3072/768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23200" y="261620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861299" y="261620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FFN / 双流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775700" y="26162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813800" y="26162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9216 · MoT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9702800" y="26162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740900" y="26162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12288 · MoT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0629900" y="2616200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0668000" y="261620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隔离 FFN 双流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7823200" y="292735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861299" y="292735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动作 / 去噪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775700" y="29273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813800" y="29273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32×8 · 4 steps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702800" y="29273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9740900" y="29273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32-step profile*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0629900" y="2927350"/>
            <a:ext cx="1054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0668000" y="292735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K=4 · V3/A10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823200" y="323850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861299" y="323850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请求复杂度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775700" y="32385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813800" y="32385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8 MoT forwards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702800" y="32385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9740900" y="32385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8 MoT forwards*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629900" y="3238500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0668000" y="323850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异步因果双时标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823200" y="3568700"/>
            <a:ext cx="38734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* Nano 为同一 profiling 配置口径；架构与 action chunk 是独立配置。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7670800" y="3873499"/>
            <a:ext cx="4165600" cy="261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7823200" y="4013200"/>
            <a:ext cx="2794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823200" y="40132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191500" y="3975100"/>
            <a:ext cx="3175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具身关键创新与竞品定位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7823200" y="4318000"/>
            <a:ext cx="1231900" cy="9017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7823200" y="4318000"/>
            <a:ext cx="1231900" cy="4445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9121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Action = 状态转移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8994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以相邻世界状态之间的</a:t>
            </a:r>
            <a:br/>
            <a:r>
              <a:t>因果 transition 表示 action</a:t>
            </a:r>
            <a:br/>
            <a:r>
              <a:t>统一视觉与控制时序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9131300" y="4318000"/>
            <a:ext cx="1231900" cy="9017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9131300" y="4318000"/>
            <a:ext cx="1231900" cy="4445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2202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跨本体几何动作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2075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ego / effector / grasp</a:t>
            </a:r>
            <a:br/>
            <a:r>
              <a:t>采用相对 SE(3)；domain-aware</a:t>
            </a:r>
            <a:br/>
            <a:r>
              <a:t>I/O 保留本体差异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10439400" y="4318000"/>
            <a:ext cx="1231900" cy="9017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10439400" y="4318000"/>
            <a:ext cx="1231900" cy="4445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05283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FD / ID / Policy 联训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5156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前向动力学、逆动力学、策略</a:t>
            </a:r>
            <a:br/>
            <a:r>
              <a:t>共享 MoT；联合预测 future visual</a:t>
            </a:r>
            <a:br/>
            <a:r>
              <a:t>与 action diffusion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823200" y="5346700"/>
            <a:ext cx="3860800" cy="7493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7924799" y="5441950"/>
            <a:ext cx="8636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7924799" y="5441950"/>
            <a:ext cx="863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vs LingBot-VA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877300" y="5397500"/>
            <a:ext cx="266700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83B66"/>
                </a:solidFill>
                <a:latin typeface="Microsoft YaHei"/>
              </a:defRPr>
            </a:pPr>
            <a:r>
              <a:t>优势在“统一模型迁移闭环”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7924799" y="5715000"/>
            <a:ext cx="35814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Edge：同模型贯通理解→生成→动作；LingBot-VA：面向实时控制的因果双流。</a:t>
            </a:r>
            <a:br/>
            <a:r>
              <a:t>结论：能力边界更统一 ≠ 已证明实时吞吐更高。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55600" y="6584950"/>
            <a:ext cx="114808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Sources: Cosmos 3 paper (arXiv:2606.02800v4) · NVIDIA Edge Policy model card · LingBot-VA paper/repo · local Edge/Nano profiling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922000" y="6584950"/>
            <a:ext cx="9144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5E6B82"/>
                </a:solidFill>
                <a:latin typeface="Microsoft YaHei"/>
              </a:defRPr>
            </a:pPr>
            <a:r>
              <a:t>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23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81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47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7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4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2743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352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3962399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181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5791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55600" y="254000"/>
            <a:ext cx="5461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5600" y="254000"/>
            <a:ext cx="546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BENCH 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000" y="215900"/>
            <a:ext cx="749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4213D"/>
                </a:solidFill>
                <a:latin typeface="Microsoft YaHei"/>
              </a:defRPr>
            </a:pPr>
            <a:r>
              <a:t>H100 实测情况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6000" y="603250"/>
            <a:ext cx="7493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5E6B82"/>
                </a:solidFill>
                <a:latin typeface="Microsoft YaHei"/>
              </a:defRPr>
            </a:pPr>
            <a:r>
              <a:t>RoboLab 远端闭环 · 模块级 profiling · 性能瓶颈定位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71000" y="285750"/>
            <a:ext cx="2565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677FF"/>
                </a:solidFill>
                <a:latin typeface="Microsoft YaHei"/>
              </a:defRPr>
            </a:pPr>
            <a:r>
              <a:t>EDGE POLICY · DROID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1000" y="501650"/>
            <a:ext cx="25654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H100 server / RTX 4090 client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55600" y="889000"/>
            <a:ext cx="11480800" cy="0"/>
          </a:xfrm>
          <a:prstGeom prst="line">
            <a:avLst/>
          </a:prstGeom>
          <a:ln w="12700">
            <a:solidFill>
              <a:srgbClr val="D9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5600" y="1054100"/>
            <a:ext cx="7696199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8000" y="1181100"/>
            <a:ext cx="2794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8000" y="11811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6300" y="1149350"/>
            <a:ext cx="228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测试环境与方法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10000" y="1174750"/>
            <a:ext cx="9271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10000" y="1174750"/>
            <a:ext cx="927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4-step · CFG=3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51400" y="1174750"/>
            <a:ext cx="9271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51400" y="1174750"/>
            <a:ext cx="927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稳定样本 n=2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92800" y="1174750"/>
            <a:ext cx="12446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92800" y="1174750"/>
            <a:ext cx="1244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decode video = false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8800" y="1562100"/>
            <a:ext cx="1816100" cy="102870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60400" y="1651000"/>
            <a:ext cx="6223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0400" y="1651000"/>
            <a:ext cx="6223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RTX 4090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400" y="1924049"/>
            <a:ext cx="16129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1">
                <a:solidFill>
                  <a:srgbClr val="14213D"/>
                </a:solidFill>
                <a:latin typeface="Microsoft YaHei"/>
              </a:defRPr>
            </a:pPr>
            <a:r>
              <a:t>RoboLab Client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400" y="2146300"/>
            <a:ext cx="1612900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仿真 / 相机观测 / prompt</a:t>
            </a:r>
            <a:br/>
            <a:r>
              <a:t>执行 action → 下一帧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400300" y="1981199"/>
            <a:ext cx="381000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/>
          <p:cNvSpPr/>
          <p:nvPr/>
        </p:nvSpPr>
        <p:spPr>
          <a:xfrm rot="5400000">
            <a:off x="2724150" y="1924049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806700" y="1714500"/>
            <a:ext cx="1320800" cy="5588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8B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82900" y="1765300"/>
            <a:ext cx="11684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SSH 端口转发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82900" y="1974850"/>
            <a:ext cx="1168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WebSocket request / response</a:t>
            </a:r>
            <a:br/>
            <a:r>
              <a:t>端口不写死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152900" y="1981199"/>
            <a:ext cx="317500" cy="0"/>
          </a:xfrm>
          <a:prstGeom prst="line">
            <a:avLst/>
          </a:prstGeom>
          <a:ln w="2540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/>
          <p:cNvSpPr/>
          <p:nvPr/>
        </p:nvSpPr>
        <p:spPr>
          <a:xfrm rot="5400000">
            <a:off x="4413250" y="1924049"/>
            <a:ext cx="114300" cy="114300"/>
          </a:xfrm>
          <a:prstGeom prst="triangle">
            <a:avLst/>
          </a:prstGeom>
          <a:solidFill>
            <a:srgbClr val="E6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00300" y="1822450"/>
            <a:ext cx="3810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1677FF"/>
                </a:solidFill>
                <a:latin typeface="Microsoft YaHei"/>
              </a:defRPr>
            </a:pPr>
            <a:r>
              <a:t>OBS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495800" y="1473200"/>
            <a:ext cx="3276600" cy="1168400"/>
          </a:xfrm>
          <a:prstGeom prst="roundRect">
            <a:avLst/>
          </a:prstGeom>
          <a:solidFill>
            <a:srgbClr val="EAF8F1"/>
          </a:solidFill>
          <a:ln w="1905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597400" y="1562100"/>
            <a:ext cx="5461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97400" y="1562100"/>
            <a:ext cx="546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H100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57800" y="1562100"/>
            <a:ext cx="234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1">
                <a:solidFill>
                  <a:srgbClr val="14213D"/>
                </a:solidFill>
                <a:latin typeface="Microsoft YaHei"/>
              </a:defRPr>
            </a:pPr>
            <a:r>
              <a:t>Cosmos3-Edge Policy Server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622800" y="1866899"/>
            <a:ext cx="838200" cy="44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673600" y="1924049"/>
            <a:ext cx="7366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20A464"/>
                </a:solidFill>
                <a:latin typeface="Microsoft YaHei"/>
              </a:defRPr>
            </a:pPr>
            <a:r>
              <a:t>PREPARE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73600" y="2089150"/>
            <a:ext cx="7366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VAE / pack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37200" y="1866899"/>
            <a:ext cx="1041400" cy="44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88000" y="1924049"/>
            <a:ext cx="939799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20A464"/>
                </a:solidFill>
                <a:latin typeface="Microsoft YaHei"/>
              </a:defRPr>
            </a:pPr>
            <a:r>
              <a:t>SAMPLER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88000" y="2089150"/>
            <a:ext cx="939799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UniPC ×4 · CFG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654800" y="1866899"/>
            <a:ext cx="990599" cy="44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05600" y="1924049"/>
            <a:ext cx="8890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1">
                <a:solidFill>
                  <a:srgbClr val="20A464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2089150"/>
            <a:ext cx="8890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action [32,8]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061200" y="2667000"/>
            <a:ext cx="0" cy="25400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473200" y="2921000"/>
            <a:ext cx="5588000" cy="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473200" y="2616200"/>
            <a:ext cx="0" cy="30480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>
            <a:off x="1416050" y="2559050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238500" y="2825750"/>
            <a:ext cx="2044700" cy="1905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38500" y="2825750"/>
            <a:ext cx="20447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FFFFFF"/>
                </a:solidFill>
                <a:latin typeface="Microsoft YaHei"/>
              </a:defRPr>
            </a:pPr>
            <a:r>
              <a:t>ACTION [32,8] · CLOSED LOOP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16600" y="2724150"/>
            <a:ext cx="11811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20A464"/>
                </a:solidFill>
                <a:latin typeface="Microsoft YaHei"/>
              </a:defRPr>
            </a:pPr>
            <a:r>
              <a:t>WebSocket response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91500" y="1054100"/>
            <a:ext cx="36449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343900" y="1181100"/>
            <a:ext cx="2794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43900" y="11811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12200" y="1149350"/>
            <a:ext cx="228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模型效果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972800" y="1174750"/>
            <a:ext cx="7112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72800" y="1174750"/>
            <a:ext cx="7112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待补素材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343900" y="1549400"/>
            <a:ext cx="1638300" cy="13970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BFC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43900" y="1701800"/>
            <a:ext cx="1638300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400" b="0">
                <a:solidFill>
                  <a:srgbClr val="AAB7C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32800" y="2146300"/>
            <a:ext cx="1460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生成适配效果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2800" y="2368550"/>
            <a:ext cx="1460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放生成帧 / 对齐结果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712200" y="2730500"/>
            <a:ext cx="9017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712200" y="2730500"/>
            <a:ext cx="901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USER CONTENT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45700" y="1549400"/>
            <a:ext cx="1638300" cy="13970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BFC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045700" y="1701800"/>
            <a:ext cx="1638300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400" b="0">
                <a:solidFill>
                  <a:srgbClr val="AAB7C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34600" y="2146300"/>
            <a:ext cx="1460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机器人操作效果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34600" y="2368550"/>
            <a:ext cx="1460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放实机图 / 视频二维码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414000" y="2730500"/>
            <a:ext cx="9017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14000" y="2730500"/>
            <a:ext cx="901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USER CONTENT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55600" y="3302000"/>
            <a:ext cx="11480800" cy="318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08000" y="3429000"/>
            <a:ext cx="2794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8000" y="34290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6300" y="3397250"/>
            <a:ext cx="3810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性能数据与瓶颈分析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97600" y="3441700"/>
            <a:ext cx="5334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稳定态 = request 4–5 均值｜父子区间嵌套，不可直接相加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33400" y="3759199"/>
            <a:ext cx="2120900" cy="62230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D9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533400" y="3759199"/>
            <a:ext cx="50800" cy="622300"/>
          </a:xfrm>
          <a:prstGeom prst="roundRect">
            <a:avLst/>
          </a:prstGeom>
          <a:solidFill>
            <a:srgbClr val="D94A5A"/>
          </a:solidFill>
          <a:ln w="6350">
            <a:solidFill>
              <a:srgbClr val="D9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3100" y="3829050"/>
            <a:ext cx="187959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D94A5A"/>
                </a:solidFill>
                <a:latin typeface="Microsoft YaHei"/>
              </a:defRPr>
            </a:pPr>
            <a:r>
              <a:t>377.79 ms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73100" y="4102099"/>
            <a:ext cx="1879599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稳定端到端 · request 4–5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743200" y="3759199"/>
            <a:ext cx="2120900" cy="6223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2743200" y="3759199"/>
            <a:ext cx="50800" cy="6223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882900" y="3829050"/>
            <a:ext cx="187959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2.647 req/s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82900" y="4102099"/>
            <a:ext cx="1879599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单请求串行吞吐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953000" y="3759199"/>
            <a:ext cx="2120900" cy="6223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953000" y="3759199"/>
            <a:ext cx="50800" cy="6223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92700" y="3829050"/>
            <a:ext cx="187959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E69A24"/>
                </a:solidFill>
                <a:latin typeface="Microsoft YaHei"/>
              </a:defRPr>
            </a:pPr>
            <a:r>
              <a:t>231.83 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92700" y="4102099"/>
            <a:ext cx="1879599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sampler · 61.37% E2E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162800" y="3759199"/>
            <a:ext cx="2120900" cy="6223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162800" y="3759199"/>
            <a:ext cx="50800" cy="6223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302500" y="3829050"/>
            <a:ext cx="187959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20A464"/>
                </a:solidFill>
                <a:latin typeface="Microsoft YaHei"/>
              </a:defRPr>
            </a:pPr>
            <a:r>
              <a:t>117.087 TF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302500" y="4102099"/>
            <a:ext cx="1879599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理论计算量 / request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372600" y="3759199"/>
            <a:ext cx="2120900" cy="6223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9372600" y="3759199"/>
            <a:ext cx="50800" cy="6223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512300" y="3829050"/>
            <a:ext cx="187959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83B66"/>
                </a:solidFill>
                <a:latin typeface="Microsoft YaHei"/>
              </a:defRPr>
            </a:pPr>
            <a:r>
              <a:t>8,438.66 MiB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512300" y="4102099"/>
            <a:ext cx="1879599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peak alloc · reserved 8,644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33400" y="4495800"/>
            <a:ext cx="5397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14213D"/>
                </a:solidFill>
                <a:latin typeface="Microsoft YaHei"/>
              </a:defRPr>
            </a:pPr>
            <a:r>
              <a:t>A｜稳定态推理时间（ms）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33400" y="4686300"/>
            <a:ext cx="1397000" cy="19685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58800" y="4686300"/>
            <a:ext cx="13462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930400" y="4686300"/>
            <a:ext cx="825500" cy="19685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955800" y="46863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平均耗时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55900" y="4686300"/>
            <a:ext cx="1079500" cy="19685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781300" y="4686300"/>
            <a:ext cx="10287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占父区间 / E2E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835400" y="4686300"/>
            <a:ext cx="2095499" cy="19685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860800" y="4686300"/>
            <a:ext cx="20447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33400" y="48831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8800" y="48831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request_total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930400" y="4883150"/>
            <a:ext cx="825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55800" y="48831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377.79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55900" y="4883150"/>
            <a:ext cx="1079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781300" y="48831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100% E2E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835400" y="4883150"/>
            <a:ext cx="2095499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860800" y="48831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正式 request 4–5 均值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33400" y="50482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8800" y="50482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generator_total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930400" y="5048250"/>
            <a:ext cx="825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955800" y="50482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312.75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55900" y="5048250"/>
            <a:ext cx="1079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781300" y="50482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82.79% E2E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835400" y="5048250"/>
            <a:ext cx="2095499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860800" y="50482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prepare + sampler 上层区间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33400" y="52133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58800" y="52133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build_sample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930400" y="5213350"/>
            <a:ext cx="825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955800" y="52133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61.67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55900" y="5213350"/>
            <a:ext cx="1079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781300" y="52133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16.32% E2E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835400" y="5213350"/>
            <a:ext cx="2095499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860800" y="52133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CPU 观测预处理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33400" y="53784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58800" y="53784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prepare_data_total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930400" y="5378450"/>
            <a:ext cx="825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955800" y="53784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75.90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755900" y="5378450"/>
            <a:ext cx="1079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781300" y="53784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20.09% E2E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835400" y="5378450"/>
            <a:ext cx="2095499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860800" y="53784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condition / VAE / initial pack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33400" y="55435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8800" y="55435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vae_encode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930400" y="5543550"/>
            <a:ext cx="825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955800" y="55435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9.92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755900" y="5543550"/>
            <a:ext cx="1079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2781300" y="55435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2.63% E2E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835400" y="5543550"/>
            <a:ext cx="2095499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860800" y="55435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视觉条件编码，非主瓶颈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33400" y="57086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58800" y="57086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sampler_total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930400" y="5708650"/>
            <a:ext cx="825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955800" y="57086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231.83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755900" y="5708650"/>
            <a:ext cx="1079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781300" y="57086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61.37% E2E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835400" y="5708650"/>
            <a:ext cx="2095499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860800" y="57086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4-step · 8 次网络调用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33400" y="58737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58800" y="58737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network_forward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930400" y="5873750"/>
            <a:ext cx="825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955800" y="58737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222.635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55900" y="5873750"/>
            <a:ext cx="1079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81300" y="58737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96.03% sampler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835400" y="5873750"/>
            <a:ext cx="2095499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860800" y="58737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8 次 forward 累计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33400" y="60388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58800" y="60388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mot_joint_forward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930400" y="6038850"/>
            <a:ext cx="825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955800" y="6038850"/>
            <a:ext cx="77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178.407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755900" y="6038850"/>
            <a:ext cx="1079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781300" y="6038850"/>
            <a:ext cx="1028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80.13% network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835400" y="6038850"/>
            <a:ext cx="2095499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860800" y="6038850"/>
            <a:ext cx="2044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MoT 主干，首要 GPU 瓶颈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108700" y="4495800"/>
            <a:ext cx="5397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14213D"/>
                </a:solidFill>
                <a:latin typeface="Microsoft YaHei"/>
              </a:defRPr>
            </a:pPr>
            <a:r>
              <a:t>B｜理论计算量与折算速率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108700" y="4686300"/>
            <a:ext cx="1397000" cy="19685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134100" y="4686300"/>
            <a:ext cx="13462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505700" y="4686300"/>
            <a:ext cx="1016000" cy="19685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531100" y="4686300"/>
            <a:ext cx="9652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TFLOPs / 请求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521700" y="4686300"/>
            <a:ext cx="1016000" cy="19685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547100" y="4686300"/>
            <a:ext cx="9652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占请求 FLOPs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537700" y="4686300"/>
            <a:ext cx="1968500" cy="19685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563100" y="4686300"/>
            <a:ext cx="1917700" cy="196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1">
                <a:solidFill>
                  <a:srgbClr val="FFFFFF"/>
                </a:solidFill>
                <a:latin typeface="Microsoft YaHei"/>
              </a:defRPr>
            </a:pPr>
            <a:r>
              <a:t>稳定态折算速率 / 观察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08700" y="48831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134100" y="48831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request / generator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505700" y="48831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531100" y="48831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117.087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521700" y="48831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547100" y="48831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100.00%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537700" y="4883150"/>
            <a:ext cx="1968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563100" y="48831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309.9 TF/s · E2E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108700" y="50482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134100" y="50482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VAE encode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505700" y="50482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531100" y="50482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1.074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21700" y="50482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547100" y="50482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0.92%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537700" y="5048250"/>
            <a:ext cx="1968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563100" y="50482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108.3 TF/s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6108700" y="52133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134100" y="52133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sampler / network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505700" y="52133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531100" y="52133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116.012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521700" y="52133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547100" y="52133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99.08%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537700" y="5213350"/>
            <a:ext cx="1968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563100" y="52133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500.4 TF/s · sampler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6108700" y="53784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6134100" y="53784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MoT joint forward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7505700" y="53784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7531100" y="53784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115.973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521700" y="53784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547100" y="53784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99.05%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537700" y="5378450"/>
            <a:ext cx="1968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563100" y="53784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650.0 TF/s · MoT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108700" y="55435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134100" y="55435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encode_vision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05700" y="55435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531100" y="55435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0.01933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1700" y="55435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47100" y="55435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0.0165%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7700" y="5543550"/>
            <a:ext cx="1968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63100" y="55435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低 FLOPs / 7.478 ms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6108700" y="57086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134100" y="57086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vision_head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505700" y="57086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531100" y="57086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0.01925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521700" y="57086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547100" y="57086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0.0164%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9537700" y="5708650"/>
            <a:ext cx="1968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9563100" y="57086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低 FLOPs / 0.686 ms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6108700" y="58737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134100" y="58737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encode_action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505700" y="58737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7531100" y="58737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0.000145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521700" y="5873750"/>
            <a:ext cx="10160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547100" y="58737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~0.00012%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537700" y="5873750"/>
            <a:ext cx="1968500" cy="16510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563100" y="58737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低 FLOPs / 4.813 ms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108700" y="6038850"/>
            <a:ext cx="1397000" cy="16510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6134100" y="60388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1">
                <a:solidFill>
                  <a:srgbClr val="14213D"/>
                </a:solidFill>
                <a:latin typeface="Microsoft YaHei"/>
              </a:defRPr>
            </a:pPr>
            <a:r>
              <a:t>action_head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505700" y="60388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531100" y="60388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0.000069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8521700" y="6038850"/>
            <a:ext cx="10160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8547100" y="6038850"/>
            <a:ext cx="965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~0.00006%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9537700" y="6038850"/>
            <a:ext cx="1968500" cy="16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9563100" y="6038850"/>
            <a:ext cx="1917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550" b="0">
                <a:solidFill>
                  <a:srgbClr val="5E6B82"/>
                </a:solidFill>
                <a:latin typeface="Microsoft YaHei"/>
              </a:defRPr>
            </a:pPr>
            <a:r>
              <a:t>低 FLOPs / 0.786 ms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533400" y="6235700"/>
            <a:ext cx="108585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D94A5A"/>
                </a:solidFill>
                <a:latin typeface="Microsoft YaHei"/>
              </a:defRPr>
            </a:pPr>
            <a:r>
              <a:t>结论｜MoT 承担 99.05% 理论 FLOPs、占 network 80.13% 时间；CFG 使每请求执行 4C+4U。首请求 22.00 s 属编译冷启动，必须 readiness 预热。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55600" y="6584950"/>
            <a:ext cx="105410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Source: RoboLab Edge Policy Server 推理性能分析报告 · requests 1–5 · 2026-07-27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0922000" y="6584950"/>
            <a:ext cx="9144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5E6B82"/>
                </a:solidFill>
                <a:latin typeface="Microsoft YaHei"/>
              </a:defRPr>
            </a:pPr>
            <a:r>
              <a:t>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Cosmos3-Edge 模型洞察与竞品分析</dc:title>
  <dc:subject>模型分析情况与 H100 实测情况</dc:subject>
  <dc:creator>Cosmos Framework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
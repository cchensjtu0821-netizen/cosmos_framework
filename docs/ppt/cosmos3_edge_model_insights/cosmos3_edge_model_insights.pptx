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讲解要点：左侧严格按 STEP 1→4 阅读。先把服务侧预处理折叠成 video/action/prompt 三路输入；prepare_data_total 分别完成单帧前缀 VAE、文本 tokenize，并按 text→vision→action 顺序打包，同时初始化联合噪声；sampler_total 的条件与无条件分支读取同一 joint latent，CFG 合流后由 UniPC 更新这个共享状态，再回送给下一步的两条分支；默认 guidance=3、4 个 UniPC step，因此共 8 次 MoT 前向。最后拆成 action 和可选 video 两路输出。右侧参数采用 Cosmos 3 与 LingBot-VA 官方论文/模型卡口径。具身创新按三条主线讲解：跨具身统一 Action 表示与 Domain-aware I/O Projection；FD/ID/Policy 通过 clean/noisy token 配置共享同一 MoT；Action–Video 联合预测用视觉后果约束动作生成。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讲解要点：RoboLab 客户端运行在 RTX 4090，观测通过 SSH 端口转发后的 WebSocket 发往 H100 上的 Cosmos3-Edge Policy Server，返回 [32,8] action 后闭环执行；该拓扑只解释测试环境，不进入性能口径。本页从 generator_total 开始统计纯模型推理，排除 WebSocket、SSH、build_sample 和服务包装。稳定模型推理为 312.75 ms，对应单实例串行 3.197 inference/s。4-step、guidance=3 每次推理执行 4 次 conditional 和 4 次 unconditional。network_forward 的 222.635 ms 是 8 次调用的累计值，sampler 总计 231.83 ms。理论计算量 117.087 TFLOPs/次推理，其中 MoT joint forward 为 115.973 TFLOPs，是首要 GPU 瓶颈。稳定峰值显存为 8438.66 MiB allocated、8644 MiB reserved，request 2–5 无增长。模型效果区域由用户补入素材。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4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2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5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623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81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91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05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10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20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247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3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4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36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27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582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304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914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524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2743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352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3962399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4572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181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5791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096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0" y="6705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55600" y="254000"/>
            <a:ext cx="5461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5600" y="254000"/>
            <a:ext cx="546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MODEL 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000" y="215900"/>
            <a:ext cx="7493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300" b="1">
                <a:solidFill>
                  <a:srgbClr val="14213D"/>
                </a:solidFill>
                <a:latin typeface="Microsoft YaHei"/>
              </a:defRPr>
            </a:pPr>
            <a:r>
              <a:t>NVIDIA Cosmos3-Edge｜模型洞察与竞品分析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000" y="603250"/>
            <a:ext cx="7493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50" b="0">
                <a:solidFill>
                  <a:srgbClr val="5E6B82"/>
                </a:solidFill>
                <a:latin typeface="Microsoft YaHei"/>
              </a:defRPr>
            </a:pPr>
            <a:r>
              <a:t>模型分析情况：单次推理架构 · 参数/计算结构 · 具身关键创新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71000" y="285750"/>
            <a:ext cx="25654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677FF"/>
                </a:solidFill>
                <a:latin typeface="Microsoft YaHei"/>
              </a:defRPr>
            </a:pPr>
            <a:r>
              <a:t>EDGE POLICY · DROID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71000" y="501650"/>
            <a:ext cx="25654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32-step observed runtime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55600" y="889000"/>
            <a:ext cx="11480800" cy="0"/>
          </a:xfrm>
          <a:prstGeom prst="line">
            <a:avLst/>
          </a:prstGeom>
          <a:ln w="12700">
            <a:solidFill>
              <a:srgbClr val="D9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355600" y="1054100"/>
            <a:ext cx="7162800" cy="5435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20700" y="1193800"/>
            <a:ext cx="2794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0700" y="11938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9000" y="1162050"/>
            <a:ext cx="4826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4213D"/>
                </a:solidFill>
                <a:latin typeface="Microsoft YaHei"/>
              </a:defRPr>
            </a:pPr>
            <a:r>
              <a:t>Edge 单次推理框图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99100" y="1200150"/>
            <a:ext cx="1816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去除 WebSocket I/O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3400" y="1536700"/>
            <a:ext cx="5588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3400" y="153670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8400" y="1536700"/>
            <a:ext cx="12065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输入汇聚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3400" y="1790700"/>
            <a:ext cx="1371600" cy="16383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7700" y="1879599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Input &amp; Batch Prep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7700" y="2082800"/>
            <a:ext cx="1143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build_sample / transform / batch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7700" y="2374900"/>
            <a:ext cx="1143000" cy="3175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1200" y="24003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09A9C8"/>
                </a:solidFill>
                <a:latin typeface="Microsoft YaHei"/>
              </a:defRPr>
            </a:pPr>
            <a:r>
              <a:t>VIDEO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200" y="25209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[1,3,33,544,736]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7700" y="2768600"/>
            <a:ext cx="1143000" cy="3175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1200" y="27940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E69A24"/>
                </a:solidFill>
                <a:latin typeface="Microsoft YaHei"/>
              </a:defRPr>
            </a:pPr>
            <a:r>
              <a:t>ACTION / STATE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1200" y="29146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batch [1,33,64] · sample [33,64]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7700" y="3162300"/>
            <a:ext cx="1143000" cy="3175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1200" y="31877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677FF"/>
                </a:solidFill>
                <a:latin typeface="Microsoft YaHei"/>
              </a:defRPr>
            </a:pPr>
            <a:r>
              <a:t>PROMPT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1200" y="33083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cond / uncond text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032000" y="1498600"/>
            <a:ext cx="5130800" cy="2120900"/>
          </a:xfrm>
          <a:prstGeom prst="roundRect">
            <a:avLst/>
          </a:prstGeom>
          <a:solidFill>
            <a:srgbClr val="F9FBFE"/>
          </a:solidFill>
          <a:ln w="19050">
            <a:solidFill>
              <a:srgbClr val="8FB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146300" y="1600200"/>
            <a:ext cx="5588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46300" y="160020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81300" y="1600200"/>
            <a:ext cx="11176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781300" y="1600200"/>
            <a:ext cx="11176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prepare_data_total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00500" y="1612900"/>
            <a:ext cx="29591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5E6B82"/>
                </a:solidFill>
                <a:latin typeface="Microsoft YaHei"/>
              </a:defRPr>
            </a:pPr>
            <a:r>
              <a:t>模态编码 → 顺序打包 → 联合扩散初值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09800" y="1993899"/>
            <a:ext cx="1460500" cy="6858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8CCE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2209800" y="1993899"/>
            <a:ext cx="44450" cy="685800"/>
          </a:xfrm>
          <a:prstGeom prst="round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324100" y="2063750"/>
            <a:ext cx="1270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VAE Encoder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324100" y="2254250"/>
            <a:ext cx="1270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仅 frame 0 前缀编码</a:t>
            </a:r>
            <a:br/>
            <a:r>
              <a:t>raw [1,48,9,34,46]</a:t>
            </a:r>
            <a:br/>
            <a:r>
              <a:t>crop → [1,48,9,33,40]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327400" y="2051049"/>
            <a:ext cx="266700" cy="215900"/>
          </a:xfrm>
          <a:prstGeom prst="round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327400" y="2051049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V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209800" y="2882900"/>
            <a:ext cx="1460500" cy="5207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209800" y="2882900"/>
            <a:ext cx="44450" cy="5207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324100" y="2952750"/>
            <a:ext cx="1270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Tokenize Text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24100" y="3143250"/>
            <a:ext cx="1270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cond 105→107 · uncond 17→19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327400" y="2940050"/>
            <a:ext cx="2667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327400" y="29400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T</a:t>
            </a:r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917700" y="2317750"/>
            <a:ext cx="266700" cy="215900"/>
          </a:xfrm>
          <a:prstGeom prst="line">
            <a:avLst/>
          </a:prstGeom>
          <a:ln w="254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Isosceles Triangle 110"/>
          <p:cNvSpPr/>
          <p:nvPr/>
        </p:nvSpPr>
        <p:spPr>
          <a:xfrm rot="3060540">
            <a:off x="2127250" y="226060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1917700" y="2927350"/>
            <a:ext cx="1270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044700" y="2927350"/>
            <a:ext cx="0" cy="55245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044700" y="3479800"/>
            <a:ext cx="2031999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076699" y="3149600"/>
            <a:ext cx="0" cy="33020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076699" y="3149600"/>
            <a:ext cx="101601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Isosceles Triangle 116"/>
          <p:cNvSpPr/>
          <p:nvPr/>
        </p:nvSpPr>
        <p:spPr>
          <a:xfrm rot="5400000">
            <a:off x="4121150" y="3092450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917700" y="3143250"/>
            <a:ext cx="266700" cy="1778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Isosceles Triangle 118"/>
          <p:cNvSpPr/>
          <p:nvPr/>
        </p:nvSpPr>
        <p:spPr>
          <a:xfrm rot="3378596">
            <a:off x="2127250" y="308610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628900" y="3378200"/>
            <a:ext cx="13081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E69A24"/>
                </a:solidFill>
                <a:latin typeface="Microsoft YaHei"/>
              </a:defRPr>
            </a:pPr>
            <a:r>
              <a:t>ACTION LATENT [33,64]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203700" y="1930400"/>
            <a:ext cx="2781300" cy="1473200"/>
          </a:xfrm>
          <a:prstGeom prst="roundRect">
            <a:avLst/>
          </a:prstGeom>
          <a:solidFill>
            <a:srgbClr val="FFF5E4"/>
          </a:solidFill>
          <a:ln w="19050">
            <a:solidFill>
              <a:srgbClr val="E8B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4318000" y="2032000"/>
            <a:ext cx="12192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318000" y="2032000"/>
            <a:ext cx="12192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PACK + NOISE INIT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13400" y="2038349"/>
            <a:ext cx="12573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1">
                <a:solidFill>
                  <a:srgbClr val="14213D"/>
                </a:solidFill>
                <a:latin typeface="Microsoft YaHei"/>
              </a:defRPr>
            </a:pPr>
            <a:r>
              <a:t>严格 token 顺序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695700" y="2324100"/>
            <a:ext cx="482600" cy="63500"/>
          </a:xfrm>
          <a:prstGeom prst="line">
            <a:avLst/>
          </a:prstGeom>
          <a:ln w="254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Isosceles Triangle 125"/>
          <p:cNvSpPr/>
          <p:nvPr/>
        </p:nvSpPr>
        <p:spPr>
          <a:xfrm rot="5849751">
            <a:off x="4121150" y="23304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721100" y="2171700"/>
            <a:ext cx="4445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09A9C8"/>
                </a:solidFill>
                <a:latin typeface="Microsoft YaHei"/>
              </a:defRPr>
            </a:pPr>
            <a:r>
              <a:t>V-LATENT</a:t>
            </a:r>
          </a:p>
        </p:txBody>
      </p:sp>
      <p:cxnSp>
        <p:nvCxnSpPr>
          <p:cNvPr id="128" name="Connector 127"/>
          <p:cNvCxnSpPr/>
          <p:nvPr/>
        </p:nvCxnSpPr>
        <p:spPr>
          <a:xfrm flipV="1">
            <a:off x="3695700" y="2882900"/>
            <a:ext cx="482600" cy="2667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Isosceles Triangle 128"/>
          <p:cNvSpPr/>
          <p:nvPr/>
        </p:nvSpPr>
        <p:spPr>
          <a:xfrm rot="3664414">
            <a:off x="4121150" y="28257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708400" y="3022600"/>
            <a:ext cx="457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677FF"/>
                </a:solidFill>
                <a:latin typeface="Microsoft YaHei"/>
              </a:defRPr>
            </a:pPr>
            <a:r>
              <a:t>TEXT IDS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30700" y="2349500"/>
            <a:ext cx="711200" cy="3810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30700" y="2393950"/>
            <a:ext cx="711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677FF"/>
                </a:solidFill>
                <a:latin typeface="Microsoft YaHei"/>
              </a:defRPr>
            </a:pPr>
            <a:r>
              <a:t>① TEXT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30700" y="2546350"/>
            <a:ext cx="7112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C107 / U19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067300" y="2349500"/>
            <a:ext cx="914400" cy="3810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67300" y="2393950"/>
            <a:ext cx="914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09A9C8"/>
                </a:solidFill>
                <a:latin typeface="Microsoft YaHei"/>
              </a:defRPr>
            </a:pPr>
            <a:r>
              <a:t>② VISION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67300" y="2546350"/>
            <a:ext cx="9144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3060 patches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007100" y="2349500"/>
            <a:ext cx="838200" cy="3810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007100" y="2393950"/>
            <a:ext cx="838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20A464"/>
                </a:solidFill>
                <a:latin typeface="Microsoft YaHei"/>
              </a:defRPr>
            </a:pPr>
            <a:r>
              <a:t>③ ACTION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007100" y="2546350"/>
            <a:ext cx="8382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33 tokens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5041900" y="2540000"/>
            <a:ext cx="12700" cy="0"/>
          </a:xfrm>
          <a:prstGeom prst="line">
            <a:avLst/>
          </a:prstGeom>
          <a:ln w="127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/>
          <p:cNvSpPr/>
          <p:nvPr/>
        </p:nvSpPr>
        <p:spPr>
          <a:xfrm rot="5400000">
            <a:off x="4997450" y="24828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5981700" y="2540000"/>
            <a:ext cx="12700" cy="0"/>
          </a:xfrm>
          <a:prstGeom prst="line">
            <a:avLst/>
          </a:prstGeom>
          <a:ln w="127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Isosceles Triangle 142"/>
          <p:cNvSpPr/>
          <p:nvPr/>
        </p:nvSpPr>
        <p:spPr>
          <a:xfrm rot="5400000">
            <a:off x="5937250" y="24828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330700" y="2800350"/>
            <a:ext cx="25146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83B66"/>
                </a:solidFill>
                <a:latin typeface="Microsoft YaHei"/>
              </a:defRPr>
            </a:pPr>
            <a:r>
              <a:t>packed hidden: cond [3200,2048] · uncond [3112,2048]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30700" y="2984500"/>
            <a:ext cx="2514600" cy="304800"/>
          </a:xfrm>
          <a:prstGeom prst="roundRect">
            <a:avLst/>
          </a:prstGeom>
          <a:solidFill>
            <a:srgbClr val="FDECEF"/>
          </a:solidFill>
          <a:ln w="12700">
            <a:solidFill>
              <a:srgbClr val="E9A9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394200" y="3009900"/>
            <a:ext cx="23876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D94A5A"/>
                </a:solidFill>
                <a:latin typeface="Microsoft YaHei"/>
              </a:defRPr>
            </a:pPr>
            <a:r>
              <a:t>JOINT NOISE / LATENT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94200" y="3136900"/>
            <a:ext cx="23876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noise_v [1,48,9,33,40]  +  noise_a [33,64]  → flat [572352]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5588000" y="3429000"/>
            <a:ext cx="0" cy="304799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35000" y="3733799"/>
            <a:ext cx="4953000" cy="0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635000" y="3733799"/>
            <a:ext cx="0" cy="482601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Isosceles Triangle 150"/>
          <p:cNvSpPr/>
          <p:nvPr/>
        </p:nvSpPr>
        <p:spPr>
          <a:xfrm rot="10800000">
            <a:off x="577850" y="4159249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2590800" y="3638550"/>
            <a:ext cx="2247900" cy="1905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90800" y="3638550"/>
            <a:ext cx="22479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FFFFFF"/>
                </a:solidFill>
                <a:latin typeface="Microsoft YaHei"/>
              </a:defRPr>
            </a:pPr>
            <a:r>
              <a:t>PACKED CONDITIONS + JOINT LATENT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33400" y="3873499"/>
            <a:ext cx="6629400" cy="1638300"/>
          </a:xfrm>
          <a:prstGeom prst="roundRect">
            <a:avLst/>
          </a:prstGeom>
          <a:solidFill>
            <a:srgbClr val="F9FBFE"/>
          </a:solidFill>
          <a:ln w="19050">
            <a:solidFill>
              <a:srgbClr val="8FB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711200" y="3968750"/>
            <a:ext cx="5588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1200" y="396875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346200" y="3968750"/>
            <a:ext cx="901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346200" y="3968750"/>
            <a:ext cx="901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sampler_total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362200" y="3987799"/>
            <a:ext cx="3302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5E6B82"/>
                </a:solidFill>
                <a:latin typeface="Microsoft YaHei"/>
              </a:defRPr>
            </a:pPr>
            <a:r>
              <a:t>双分支 MoT 去噪 → CFG 合流 → joint latent 更新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07100" y="3962399"/>
            <a:ext cx="10033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07100" y="3962399"/>
            <a:ext cx="10033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UniPC × 4 steps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36600" y="4292600"/>
            <a:ext cx="1993899" cy="4572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736600" y="4292600"/>
            <a:ext cx="44450" cy="4572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50900" y="4362450"/>
            <a:ext cx="1803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Conditional MoT forward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50900" y="4552950"/>
            <a:ext cx="1803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C [3200,2048] → v_c{video, action}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387600" y="4349750"/>
            <a:ext cx="2667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387600" y="43497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736600" y="4889500"/>
            <a:ext cx="1993899" cy="4445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736600" y="4889500"/>
            <a:ext cx="44450" cy="4445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50900" y="4959350"/>
            <a:ext cx="1803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00" b="1">
                <a:solidFill>
                  <a:srgbClr val="14213D"/>
                </a:solidFill>
                <a:latin typeface="Microsoft YaHei"/>
              </a:defRPr>
            </a:pPr>
            <a:r>
              <a:t>Unconditional MoT forward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50900" y="5149850"/>
            <a:ext cx="1803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U [3112,2048] → v_u · guidance≠1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387600" y="4946650"/>
            <a:ext cx="266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387600" y="49466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596900" y="4178300"/>
            <a:ext cx="76200" cy="762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5" name="Connector 174"/>
          <p:cNvCxnSpPr/>
          <p:nvPr/>
        </p:nvCxnSpPr>
        <p:spPr>
          <a:xfrm>
            <a:off x="635000" y="4216400"/>
            <a:ext cx="0" cy="89535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635000" y="4521200"/>
            <a:ext cx="76200" cy="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Isosceles Triangle 176"/>
          <p:cNvSpPr/>
          <p:nvPr/>
        </p:nvSpPr>
        <p:spPr>
          <a:xfrm rot="5400000">
            <a:off x="654050" y="446405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>
            <a:off x="635000" y="5111750"/>
            <a:ext cx="76200" cy="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Isosceles Triangle 178"/>
          <p:cNvSpPr/>
          <p:nvPr/>
        </p:nvSpPr>
        <p:spPr>
          <a:xfrm rot="5400000">
            <a:off x="654050" y="505460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0" name="Connector 179"/>
          <p:cNvCxnSpPr/>
          <p:nvPr/>
        </p:nvCxnSpPr>
        <p:spPr>
          <a:xfrm>
            <a:off x="2755900" y="4521200"/>
            <a:ext cx="520700" cy="1651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Isosceles Triangle 180"/>
          <p:cNvSpPr/>
          <p:nvPr/>
        </p:nvSpPr>
        <p:spPr>
          <a:xfrm rot="6455545">
            <a:off x="3219450" y="46291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2" name="Connector 181"/>
          <p:cNvCxnSpPr/>
          <p:nvPr/>
        </p:nvCxnSpPr>
        <p:spPr>
          <a:xfrm flipV="1">
            <a:off x="2755900" y="4965700"/>
            <a:ext cx="520700" cy="14605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Isosceles Triangle 182"/>
          <p:cNvSpPr/>
          <p:nvPr/>
        </p:nvSpPr>
        <p:spPr>
          <a:xfrm rot="4459910">
            <a:off x="3219450" y="490855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Diamond 183"/>
          <p:cNvSpPr/>
          <p:nvPr/>
        </p:nvSpPr>
        <p:spPr>
          <a:xfrm>
            <a:off x="3302000" y="4508500"/>
            <a:ext cx="965200" cy="660400"/>
          </a:xfrm>
          <a:prstGeom prst="diamond">
            <a:avLst/>
          </a:prstGeom>
          <a:solidFill>
            <a:srgbClr val="FFF5E4"/>
          </a:solidFill>
          <a:ln w="1524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3390900" y="4629150"/>
            <a:ext cx="7874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4213D"/>
                </a:solidFill>
                <a:latin typeface="Microsoft YaHei"/>
              </a:defRPr>
            </a:pPr>
            <a:r>
              <a:t>CFG MERGE</a:t>
            </a:r>
            <a:br/>
            <a:r>
              <a:t>v = v_u + 3(v_c−v_u)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4292600" y="4838700"/>
            <a:ext cx="2540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Isosceles Triangle 186"/>
          <p:cNvSpPr/>
          <p:nvPr/>
        </p:nvSpPr>
        <p:spPr>
          <a:xfrm rot="5400000">
            <a:off x="4489450" y="4781550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4572000" y="4419600"/>
            <a:ext cx="2400300" cy="8001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4572000" y="4419600"/>
            <a:ext cx="44450" cy="8001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686300" y="4489450"/>
            <a:ext cx="22098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Joint latent update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686300" y="4679950"/>
            <a:ext cx="2209800" cy="482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UniPC 同步更新两种生成状态</a:t>
            </a:r>
            <a:br/>
            <a:r>
              <a:t>video latent [1,48,9,33,40]</a:t>
            </a:r>
            <a:br/>
            <a:r>
              <a:t>action latent [33,64]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6629400" y="4476750"/>
            <a:ext cx="2667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629400" y="44767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Z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5765800" y="5245100"/>
            <a:ext cx="0" cy="16510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>
            <a:off x="469899" y="5410200"/>
            <a:ext cx="5295901" cy="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469899" y="4216400"/>
            <a:ext cx="0" cy="119380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69899" y="4216400"/>
            <a:ext cx="127001" cy="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Isosceles Triangle 197"/>
          <p:cNvSpPr/>
          <p:nvPr/>
        </p:nvSpPr>
        <p:spPr>
          <a:xfrm rot="5400000">
            <a:off x="539750" y="4159249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895600" y="5283200"/>
            <a:ext cx="2184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STEP 1→4 · 共 8 次 MoT forward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533400" y="5651500"/>
            <a:ext cx="6629400" cy="685800"/>
          </a:xfrm>
          <a:prstGeom prst="roundRect">
            <a:avLst/>
          </a:prstGeom>
          <a:solidFill>
            <a:srgbClr val="F9FBFE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647700" y="5746750"/>
            <a:ext cx="5588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47700" y="574675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295400" y="5753100"/>
            <a:ext cx="9525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生成输出</a:t>
            </a:r>
          </a:p>
        </p:txBody>
      </p:sp>
      <p:cxnSp>
        <p:nvCxnSpPr>
          <p:cNvPr id="204" name="Connector 203"/>
          <p:cNvCxnSpPr/>
          <p:nvPr/>
        </p:nvCxnSpPr>
        <p:spPr>
          <a:xfrm>
            <a:off x="6134100" y="5245100"/>
            <a:ext cx="0" cy="3429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2692400" y="5588000"/>
            <a:ext cx="3441700" cy="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2692400" y="5588000"/>
            <a:ext cx="0" cy="2286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Isosceles Triangle 206"/>
          <p:cNvSpPr/>
          <p:nvPr/>
        </p:nvSpPr>
        <p:spPr>
          <a:xfrm rot="10800000">
            <a:off x="2635250" y="5759450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 flipH="1">
            <a:off x="5232400" y="5588000"/>
            <a:ext cx="901700" cy="0"/>
          </a:xfrm>
          <a:prstGeom prst="line">
            <a:avLst/>
          </a:prstGeom>
          <a:ln w="25400">
            <a:solidFill>
              <a:srgbClr val="09A9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232400" y="5588000"/>
            <a:ext cx="0" cy="228600"/>
          </a:xfrm>
          <a:prstGeom prst="line">
            <a:avLst/>
          </a:prstGeom>
          <a:ln w="25400">
            <a:solidFill>
              <a:srgbClr val="09A9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Isosceles Triangle 209"/>
          <p:cNvSpPr/>
          <p:nvPr/>
        </p:nvSpPr>
        <p:spPr>
          <a:xfrm rot="10800000">
            <a:off x="5175250" y="57594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2273300" y="5842000"/>
            <a:ext cx="2286000" cy="3810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2362200" y="5880100"/>
            <a:ext cx="21082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ACTION GENERATION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362200" y="6026150"/>
            <a:ext cx="21082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[33,64] → postprocess → robot action [32,8]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686300" y="5842000"/>
            <a:ext cx="2324100" cy="3810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8CCE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775200" y="5880100"/>
            <a:ext cx="21463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09A9C8"/>
                </a:solidFill>
                <a:latin typeface="Microsoft YaHei"/>
              </a:defRPr>
            </a:pPr>
            <a:r>
              <a:t>VIDEO GENERATION（可选）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775200" y="6026150"/>
            <a:ext cx="21463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[1,48,9,33,40] → VAE Decoder → future video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7670800" y="1054100"/>
            <a:ext cx="4165600" cy="2679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7823200" y="1193800"/>
            <a:ext cx="2794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823200" y="11938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191500" y="1155700"/>
            <a:ext cx="3175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参数与计算结构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823200" y="1454150"/>
            <a:ext cx="384809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采用官方口径；FLOPs 未统一披露，以 denoiser 次数作复杂度 proxy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823200" y="1714500"/>
            <a:ext cx="952500" cy="27940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854950" y="1714500"/>
            <a:ext cx="8890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指标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8775700" y="1714500"/>
            <a:ext cx="927100" cy="279400"/>
          </a:xfrm>
          <a:prstGeom prst="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807450" y="1714500"/>
            <a:ext cx="8636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Cosmos3 Edge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9702800" y="1714500"/>
            <a:ext cx="927100" cy="279400"/>
          </a:xfrm>
          <a:prstGeom prst="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9734550" y="1714500"/>
            <a:ext cx="8636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Cosmos3 Nano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0629900" y="1714500"/>
            <a:ext cx="1054100" cy="27940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661650" y="1714500"/>
            <a:ext cx="990599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LingBot-VA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823200" y="1993899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861299" y="1993899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总参 / 激活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8775700" y="1993899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8813800" y="1993899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4B / dense 2B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9702800" y="1993899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9740900" y="1993899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16B / dense 8B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0629900" y="1993899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668000" y="1993899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5.3B</a:t>
            </a:r>
            <a:br/>
            <a:r>
              <a:t>(5B+~350M)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7823200" y="230505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861299" y="230505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层数 · hidden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8775700" y="23050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8813800" y="23050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28 · 2048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9702800" y="23050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9740900" y="23050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36 · 4096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629900" y="2305050"/>
            <a:ext cx="1054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668000" y="230505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30 · 3072/768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7823200" y="261620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7861299" y="261620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FFN / 双流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8775700" y="26162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8813800" y="26162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9216 · MoT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9702800" y="26162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9740900" y="26162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12288 · MoT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10629900" y="2616200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0668000" y="261620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隔离 FFN 双流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7823200" y="292735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7861299" y="292735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动作 / 去噪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8775700" y="29273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8813800" y="29273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32×8 · 4 steps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9702800" y="29273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9740900" y="29273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32-step profile*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10629900" y="2927350"/>
            <a:ext cx="1054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10668000" y="292735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K=4 · V3/A10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823200" y="323850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7861299" y="323850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请求复杂度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775700" y="32385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813800" y="32385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8 MoT forwards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702800" y="32385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740900" y="32385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8 MoT forwards*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629900" y="3238500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668000" y="323850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异步因果双时标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7823200" y="3568700"/>
            <a:ext cx="387349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* Nano 为同一 profiling 配置口径；架构与 action chunk 是独立配置。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7670800" y="3873499"/>
            <a:ext cx="4165600" cy="261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823200" y="4013200"/>
            <a:ext cx="2794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7823200" y="40132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191500" y="3975100"/>
            <a:ext cx="3175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具身关键创新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7823200" y="4318000"/>
            <a:ext cx="3860800" cy="5969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ounded Rectangle 275"/>
          <p:cNvSpPr/>
          <p:nvPr/>
        </p:nvSpPr>
        <p:spPr>
          <a:xfrm>
            <a:off x="7823200" y="4318000"/>
            <a:ext cx="50800" cy="596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ounded Rectangle 276"/>
          <p:cNvSpPr/>
          <p:nvPr/>
        </p:nvSpPr>
        <p:spPr>
          <a:xfrm>
            <a:off x="7950200" y="4508500"/>
            <a:ext cx="2540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7950200" y="4508500"/>
            <a:ext cx="2540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8318499" y="4400550"/>
            <a:ext cx="1333500" cy="431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跨具身统一</a:t>
            </a:r>
            <a:br/>
            <a:r>
              <a:t>Action 表示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9677400" y="4394200"/>
            <a:ext cx="1866899" cy="444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共享几何语义</a:t>
            </a:r>
            <a:br/>
            <a:r>
              <a:t>Domain-aware I/O Projection 适配不同动作空间</a:t>
            </a:r>
          </a:p>
        </p:txBody>
      </p:sp>
      <p:sp>
        <p:nvSpPr>
          <p:cNvPr id="281" name="Rounded Rectangle 280"/>
          <p:cNvSpPr/>
          <p:nvPr/>
        </p:nvSpPr>
        <p:spPr>
          <a:xfrm>
            <a:off x="7823200" y="4991100"/>
            <a:ext cx="3860800" cy="5969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ounded Rectangle 281"/>
          <p:cNvSpPr/>
          <p:nvPr/>
        </p:nvSpPr>
        <p:spPr>
          <a:xfrm>
            <a:off x="7823200" y="4991100"/>
            <a:ext cx="50800" cy="596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ounded Rectangle 282"/>
          <p:cNvSpPr/>
          <p:nvPr/>
        </p:nvSpPr>
        <p:spPr>
          <a:xfrm>
            <a:off x="7950200" y="5181600"/>
            <a:ext cx="2540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7950200" y="5181600"/>
            <a:ext cx="2540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8318499" y="5073650"/>
            <a:ext cx="1333500" cy="431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FD / ID / Policy</a:t>
            </a:r>
            <a:br/>
            <a:r>
              <a:t>三模式共享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677400" y="5067300"/>
            <a:ext cx="1866899" cy="444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同一 MoT 通过 clean / noisy token 配置</a:t>
            </a:r>
            <a:br/>
            <a:r>
              <a:t>学习 Forward Dynamics、Inverse Dynamics 与 Policy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7823200" y="5664200"/>
            <a:ext cx="3860800" cy="5969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7823200" y="5664200"/>
            <a:ext cx="50800" cy="596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ounded Rectangle 288"/>
          <p:cNvSpPr/>
          <p:nvPr/>
        </p:nvSpPr>
        <p:spPr>
          <a:xfrm>
            <a:off x="7950200" y="5854700"/>
            <a:ext cx="2540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950200" y="5854700"/>
            <a:ext cx="2540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8318499" y="5746750"/>
            <a:ext cx="1333500" cy="431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Action–Video</a:t>
            </a:r>
            <a:br/>
            <a:r>
              <a:t>联合策略生成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9677400" y="5740400"/>
            <a:ext cx="1866899" cy="444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同时预测动作及其视觉后果</a:t>
            </a:r>
            <a:br/>
            <a:r>
              <a:t>用 world-model 信号约束动作生成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355600" y="6584950"/>
            <a:ext cx="114808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Sources: Cosmos 3 paper (arXiv:2606.02800v4) · NVIDIA Edge Policy model card · LingBot-VA paper/repo · local Edge/Nano profiling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922000" y="6584950"/>
            <a:ext cx="914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5E6B82"/>
                </a:solidFill>
                <a:latin typeface="Microsoft YaHei"/>
              </a:defRPr>
            </a:pPr>
            <a:r>
              <a:t>2026.08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4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2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5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623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81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91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05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10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20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247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3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4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36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27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582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304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914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524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2743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352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3962399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4572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181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5791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096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0" y="6705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55600" y="254000"/>
            <a:ext cx="5461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5600" y="254000"/>
            <a:ext cx="546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BENCH 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000" y="215900"/>
            <a:ext cx="7493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300" b="1">
                <a:solidFill>
                  <a:srgbClr val="14213D"/>
                </a:solidFill>
                <a:latin typeface="Microsoft YaHei"/>
              </a:defRPr>
            </a:pPr>
            <a:r>
              <a:t>H100 实测情况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000" y="603250"/>
            <a:ext cx="7493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50" b="0">
                <a:solidFill>
                  <a:srgbClr val="5E6B82"/>
                </a:solidFill>
                <a:latin typeface="Microsoft YaHei"/>
              </a:defRPr>
            </a:pPr>
            <a:r>
              <a:t>RoboLab 远端闭环 · 模块级 profiling · 性能瓶颈定位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71000" y="285750"/>
            <a:ext cx="25654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677FF"/>
                </a:solidFill>
                <a:latin typeface="Microsoft YaHei"/>
              </a:defRPr>
            </a:pPr>
            <a:r>
              <a:t>EDGE POLICY · DROID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71000" y="501650"/>
            <a:ext cx="25654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H100 server / RTX 4090 client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55600" y="889000"/>
            <a:ext cx="11480800" cy="0"/>
          </a:xfrm>
          <a:prstGeom prst="line">
            <a:avLst/>
          </a:prstGeom>
          <a:ln w="12700">
            <a:solidFill>
              <a:srgbClr val="D9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355600" y="1054100"/>
            <a:ext cx="7696199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08000" y="1181100"/>
            <a:ext cx="2794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8000" y="11811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6300" y="1149350"/>
            <a:ext cx="2286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测试环境与方法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10000" y="1174750"/>
            <a:ext cx="9271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10000" y="1174750"/>
            <a:ext cx="927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4-step · CFG=3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51400" y="1174750"/>
            <a:ext cx="9271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51400" y="1174750"/>
            <a:ext cx="927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稳定样本 n=2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92800" y="1174750"/>
            <a:ext cx="12446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92800" y="1174750"/>
            <a:ext cx="12446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decode video = false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58800" y="1562100"/>
            <a:ext cx="1816100" cy="102870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60400" y="1651000"/>
            <a:ext cx="6223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0400" y="1651000"/>
            <a:ext cx="6223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RTX 4090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0400" y="1924049"/>
            <a:ext cx="16129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1">
                <a:solidFill>
                  <a:srgbClr val="14213D"/>
                </a:solidFill>
                <a:latin typeface="Microsoft YaHei"/>
              </a:defRPr>
            </a:pPr>
            <a:r>
              <a:t>RoboLab Client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0400" y="2146300"/>
            <a:ext cx="1612900" cy="3683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仿真 / 相机观测 / prompt</a:t>
            </a:r>
            <a:br/>
            <a:r>
              <a:t>执行 action → 下一帧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400300" y="1981199"/>
            <a:ext cx="381000" cy="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Isosceles Triangle 87"/>
          <p:cNvSpPr/>
          <p:nvPr/>
        </p:nvSpPr>
        <p:spPr>
          <a:xfrm rot="5400000">
            <a:off x="2724150" y="1924049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806700" y="1714500"/>
            <a:ext cx="1320800" cy="5588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8B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82900" y="1765300"/>
            <a:ext cx="1168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SSH 端口转发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82900" y="1974850"/>
            <a:ext cx="1168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WebSocket request / response</a:t>
            </a:r>
            <a:br/>
            <a:r>
              <a:t>端口不写死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152900" y="1981199"/>
            <a:ext cx="3175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/>
          <p:cNvSpPr/>
          <p:nvPr/>
        </p:nvSpPr>
        <p:spPr>
          <a:xfrm rot="5400000">
            <a:off x="4413250" y="1924049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400300" y="1822450"/>
            <a:ext cx="3810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1677FF"/>
                </a:solidFill>
                <a:latin typeface="Microsoft YaHei"/>
              </a:defRPr>
            </a:pPr>
            <a:r>
              <a:t>OBS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495800" y="1473200"/>
            <a:ext cx="3276600" cy="1168400"/>
          </a:xfrm>
          <a:prstGeom prst="roundRect">
            <a:avLst/>
          </a:prstGeom>
          <a:solidFill>
            <a:srgbClr val="EAF8F1"/>
          </a:solidFill>
          <a:ln w="1905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597400" y="1562100"/>
            <a:ext cx="5461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97400" y="1562100"/>
            <a:ext cx="546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H100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57800" y="1562100"/>
            <a:ext cx="23495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1">
                <a:solidFill>
                  <a:srgbClr val="14213D"/>
                </a:solidFill>
                <a:latin typeface="Microsoft YaHei"/>
              </a:defRPr>
            </a:pPr>
            <a:r>
              <a:t>Cosmos3-Edge Policy Server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622800" y="1866899"/>
            <a:ext cx="838200" cy="44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D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673600" y="1924049"/>
            <a:ext cx="7366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PREPARE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73600" y="2089150"/>
            <a:ext cx="7366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VAE / pack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537200" y="1866899"/>
            <a:ext cx="1041400" cy="44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D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588000" y="1924049"/>
            <a:ext cx="939799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SAMPLER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88000" y="2089150"/>
            <a:ext cx="939799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UniPC ×4 · CFG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654800" y="1866899"/>
            <a:ext cx="990599" cy="44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D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05600" y="1924049"/>
            <a:ext cx="889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OUTPUT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705600" y="2089150"/>
            <a:ext cx="889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action [32,8]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61200" y="2667000"/>
            <a:ext cx="0" cy="2540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1473200" y="2921000"/>
            <a:ext cx="5588000" cy="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73200" y="2616200"/>
            <a:ext cx="0" cy="3048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Isosceles Triangle 110"/>
          <p:cNvSpPr/>
          <p:nvPr/>
        </p:nvSpPr>
        <p:spPr>
          <a:xfrm>
            <a:off x="1416050" y="2559050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3238500" y="2825750"/>
            <a:ext cx="2044700" cy="1905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238500" y="2825750"/>
            <a:ext cx="20447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FFFFFF"/>
                </a:solidFill>
                <a:latin typeface="Microsoft YaHei"/>
              </a:defRPr>
            </a:pPr>
            <a:r>
              <a:t>ACTION [32,8] · CLOSED LOOP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816600" y="2724150"/>
            <a:ext cx="11811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20A464"/>
                </a:solidFill>
                <a:latin typeface="Microsoft YaHei"/>
              </a:defRPr>
            </a:pPr>
            <a:r>
              <a:t>WebSocket response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191500" y="1054100"/>
            <a:ext cx="3644900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343900" y="1181100"/>
            <a:ext cx="2794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43900" y="11811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12200" y="1149350"/>
            <a:ext cx="2286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模型效果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0972800" y="1174750"/>
            <a:ext cx="7112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972800" y="1174750"/>
            <a:ext cx="7112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待补素材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343900" y="1549400"/>
            <a:ext cx="1638300" cy="139700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BFC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343900" y="1701800"/>
            <a:ext cx="1638300" cy="3683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2400" b="0">
                <a:solidFill>
                  <a:srgbClr val="AAB7C8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32800" y="2146300"/>
            <a:ext cx="14605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生成适配效果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32800" y="2368550"/>
            <a:ext cx="14605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放生成帧 / 对齐结果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8712200" y="2730500"/>
            <a:ext cx="901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712200" y="2730500"/>
            <a:ext cx="901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USER CONTENT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45700" y="1549400"/>
            <a:ext cx="1638300" cy="139700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BFC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045700" y="1701800"/>
            <a:ext cx="1638300" cy="3683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2400" b="0">
                <a:solidFill>
                  <a:srgbClr val="AAB7C8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34600" y="2146300"/>
            <a:ext cx="14605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机器人操作效果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34600" y="2368550"/>
            <a:ext cx="14605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放实机图 / 视频二维码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0414000" y="2730500"/>
            <a:ext cx="901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414000" y="2730500"/>
            <a:ext cx="901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USER CONTENT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55600" y="3302000"/>
            <a:ext cx="11480800" cy="3187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08000" y="3429000"/>
            <a:ext cx="2794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8000" y="34290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76300" y="3397250"/>
            <a:ext cx="3810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性能数据与瓶颈分析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16600" y="3441700"/>
            <a:ext cx="5715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纯模型推理口径｜不含 WebSocket / SSH / 服务包装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33400" y="3759199"/>
            <a:ext cx="2120900" cy="622300"/>
          </a:xfrm>
          <a:prstGeom prst="roundRect">
            <a:avLst/>
          </a:prstGeom>
          <a:solidFill>
            <a:srgbClr val="FDECEF"/>
          </a:solidFill>
          <a:ln w="12700">
            <a:solidFill>
              <a:srgbClr val="D9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533400" y="3759199"/>
            <a:ext cx="50800" cy="622300"/>
          </a:xfrm>
          <a:prstGeom prst="roundRect">
            <a:avLst/>
          </a:prstGeom>
          <a:solidFill>
            <a:srgbClr val="D94A5A"/>
          </a:solidFill>
          <a:ln w="6350">
            <a:solidFill>
              <a:srgbClr val="D9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731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D94A5A"/>
                </a:solidFill>
                <a:latin typeface="Microsoft YaHei"/>
              </a:defRPr>
            </a:pPr>
            <a:r>
              <a:t>312.75 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731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generator_total · 模型推理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743200" y="3759199"/>
            <a:ext cx="2120900" cy="6223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2743200" y="3759199"/>
            <a:ext cx="50800" cy="6223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8829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3.197 inf/s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829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单实例串行推理吞吐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953000" y="3759199"/>
            <a:ext cx="2120900" cy="6223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953000" y="3759199"/>
            <a:ext cx="50800" cy="6223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0927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E69A24"/>
                </a:solidFill>
                <a:latin typeface="Microsoft YaHei"/>
              </a:defRPr>
            </a:pPr>
            <a:r>
              <a:t>231.83 ms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927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sampler · 74.13% 推理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162800" y="3759199"/>
            <a:ext cx="2120900" cy="6223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7162800" y="3759199"/>
            <a:ext cx="50800" cy="6223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3025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20A464"/>
                </a:solidFill>
                <a:latin typeface="Microsoft YaHei"/>
              </a:defRPr>
            </a:pPr>
            <a:r>
              <a:t>117.087 TF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3025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理论计算量 / 次推理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9372600" y="3759199"/>
            <a:ext cx="2120900" cy="6223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9372600" y="3759199"/>
            <a:ext cx="50800" cy="6223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5123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83B66"/>
                </a:solidFill>
                <a:latin typeface="Microsoft YaHei"/>
              </a:defRPr>
            </a:pPr>
            <a:r>
              <a:t>8,438.66 MiB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5123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peak alloc · reserved 8,644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33400" y="4495800"/>
            <a:ext cx="53975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A｜稳定态模型推理时间（ms）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33400" y="4686300"/>
            <a:ext cx="1397000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58800" y="4686300"/>
            <a:ext cx="1346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模块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930400" y="4686300"/>
            <a:ext cx="825500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955800" y="46863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平均耗时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755900" y="4686300"/>
            <a:ext cx="1079500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781300" y="4686300"/>
            <a:ext cx="1028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占模型推理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835400" y="4686300"/>
            <a:ext cx="2095499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60800" y="4686300"/>
            <a:ext cx="2044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结论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33400" y="48831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58800" y="48831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generator_total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930400" y="48831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955800" y="48831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312.75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755900" y="48831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781300" y="48831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100% 推理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835400" y="48831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860800" y="48831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prepare + sampler 总区间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33400" y="50482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58800" y="50482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prepare_data_total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930400" y="50482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955800" y="50482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75.90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755900" y="50482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781300" y="50482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24.27% 推理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835400" y="50482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860800" y="50482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condition / VAE / initial pack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33400" y="52133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58800" y="52133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vae_encode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930400" y="52133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955800" y="52133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9.92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755900" y="52133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781300" y="52133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3.17% 推理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835400" y="52133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860800" y="52133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视觉条件编码，非主瓶颈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33400" y="53784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58800" y="53784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sampler_total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930400" y="53784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955800" y="53784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231.83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755900" y="53784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2781300" y="53784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74.13% 推理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835400" y="53784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860800" y="53784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4-step · 4C + 4U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33400" y="55435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58800" y="55435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network_forward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930400" y="55435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955800" y="55435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222.635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2755900" y="55435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781300" y="55435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71.19% 推理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3835400" y="55435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3860800" y="55435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占 sampler 96.03%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33400" y="57086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558800" y="57086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mot_joint_forward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930400" y="57086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955800" y="57086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178.407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2755900" y="57086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2781300" y="57086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57.05% 推理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3835400" y="57086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3860800" y="57086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占 network 80.13%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33400" y="58737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558800" y="58737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encode_vision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930400" y="58737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1955800" y="58737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7.478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755900" y="58737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781300" y="58737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2.39% 推理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835400" y="58737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60800" y="58737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视觉 latent 输入投影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33400" y="60388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558800" y="60388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build_attention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930400" y="60388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55800" y="60388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6.399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2755900" y="60388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781300" y="60388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2.05% 推理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835400" y="60388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3860800" y="60388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mask / layout / 索引构造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108700" y="4495800"/>
            <a:ext cx="53975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B｜理论计算量与折算速率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6108700" y="4686300"/>
            <a:ext cx="13970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6134100" y="4686300"/>
            <a:ext cx="1346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模块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505700" y="4686300"/>
            <a:ext cx="10160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531100" y="4686300"/>
            <a:ext cx="965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TFLOPs / 次推理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521700" y="4686300"/>
            <a:ext cx="10160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547100" y="4686300"/>
            <a:ext cx="965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占推理 FLOPs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537700" y="4686300"/>
            <a:ext cx="19685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563100" y="4686300"/>
            <a:ext cx="1917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稳定态折算速率 / 观察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108700" y="48831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134100" y="48831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generator_total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7505700" y="48831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7531100" y="48831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117.087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8521700" y="48831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547100" y="48831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100.00%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9537700" y="48831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9563100" y="48831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374.4 TF/s · 推理总区间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108700" y="50482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134100" y="50482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VAE encode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505700" y="50482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531100" y="50482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1.074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8521700" y="50482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8547100" y="50482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0.92%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9537700" y="50482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9563100" y="50482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108.3 TF/s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6108700" y="52133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134100" y="52133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sampler / network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7505700" y="52133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7531100" y="52133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116.012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8521700" y="52133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8547100" y="52133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99.08%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9537700" y="52133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9563100" y="52133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500.4 TF/s · sampler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108700" y="53784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6134100" y="53784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MoT joint forward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505700" y="53784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531100" y="53784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115.973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8521700" y="53784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547100" y="53784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99.05%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9537700" y="53784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9563100" y="53784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650.0 TF/s · MoT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108700" y="55435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134100" y="55435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encode_vision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05700" y="55435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531100" y="55435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0.01933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1700" y="55435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47100" y="55435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0.0165%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7700" y="55435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63100" y="55435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7.478 ms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6108700" y="57086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134100" y="57086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vision_head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505700" y="57086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7531100" y="57086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0.01925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8521700" y="57086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8547100" y="57086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0.0164%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9537700" y="57086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9563100" y="57086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0.686 ms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108700" y="58737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134100" y="58737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encode_action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505700" y="58737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531100" y="58737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0.000145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521700" y="58737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547100" y="58737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~0.00012%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537700" y="58737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563100" y="58737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4.813 ms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108700" y="60388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6134100" y="60388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action_head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505700" y="60388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7531100" y="60388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0.000069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8521700" y="60388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8547100" y="60388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~0.00006%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9537700" y="60388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9563100" y="60388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0.786 ms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533400" y="6235700"/>
            <a:ext cx="108585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D94A5A"/>
                </a:solidFill>
                <a:latin typeface="Microsoft YaHei"/>
              </a:defRPr>
            </a:pPr>
            <a:r>
              <a:t>结论｜MoT 承担 99.05% 理论 FLOPs、占模型推理 57.05% 时间；Sampler 占 74.13%，CFG 每次推理执行 4C + 4U。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55600" y="6584950"/>
            <a:ext cx="105410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Source: RoboLab Edge Policy Server 推理性能分析报告 · stable samples 4–5 · 2026-07-27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0922000" y="6584950"/>
            <a:ext cx="914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5E6B82"/>
                </a:solidFill>
                <a:latin typeface="Microsoft YaHei"/>
              </a:defRPr>
            </a:pPr>
            <a:r>
              <a:t>2026.08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NVIDIA Cosmos3-Edge 模型洞察与竞品分析</dc:title>
  <dc:subject>模型分析情况与 H100 实测情况</dc:subject>
  <dc:creator>Cosmos Framework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
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讲解要点：左侧严格按 STEP 1→4 阅读。先把服务侧预处理折叠成 video/action/prompt 三路输入；prepare_data_total 分别完成 VAE、文本 tokenize，并按 text→vision→action 顺序打包，同时初始化联合噪声；sampler_total 以同一 packed condition 和 joint latent 执行条件/无条件 MoT、CFG 合流与 UniPC 更新；默认 guidance=3、4 个 UniPC step，因此共 8 次 MoT 前向。最后拆成 action 和可选 video 两路输出。右侧参数采用 Cosmos 3 与 LingBot-VA 官方论文/模型卡口径。LingBot-VA 是实时因果双流路线，不宜仅凭参数量宣称吞吐优劣。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4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0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1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52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3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3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04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5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9623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26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76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181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791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6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705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010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620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24799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534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839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48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53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363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680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2776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5824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0" y="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0" y="304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0" y="609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0" y="914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0" y="1219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0" y="1524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0" y="1828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0" y="2133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0" y="2438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0" y="2743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0" y="3048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0" y="3352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0" y="3657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0" y="3962399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0" y="4267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0" y="4572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0" y="4876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0" y="5181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0" y="54864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0" y="57912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0" y="60960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0" y="6705600"/>
            <a:ext cx="12192000" cy="0"/>
          </a:xfrm>
          <a:prstGeom prst="line">
            <a:avLst/>
          </a:prstGeom>
          <a:ln w="6350">
            <a:solidFill>
              <a:srgbClr val="EAF0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355600" y="254000"/>
            <a:ext cx="5461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5600" y="254000"/>
            <a:ext cx="5461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MODEL 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000" y="215900"/>
            <a:ext cx="7493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2300" b="1">
                <a:solidFill>
                  <a:srgbClr val="14213D"/>
                </a:solidFill>
                <a:latin typeface="Microsoft YaHei"/>
              </a:defRPr>
            </a:pPr>
            <a:r>
              <a:t>NVIDIA Cosmos3-Edge｜模型洞察与竞品分析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6000" y="603250"/>
            <a:ext cx="7493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50" b="0">
                <a:solidFill>
                  <a:srgbClr val="5E6B82"/>
                </a:solidFill>
                <a:latin typeface="Microsoft YaHei"/>
              </a:defRPr>
            </a:pPr>
            <a:r>
              <a:t>模型分析情况：单次推理架构 · 参数/计算结构 · 具身关键创新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71000" y="285750"/>
            <a:ext cx="25654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677FF"/>
                </a:solidFill>
                <a:latin typeface="Microsoft YaHei"/>
              </a:defRPr>
            </a:pPr>
            <a:r>
              <a:t>EDGE POLICY · DROID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71000" y="501650"/>
            <a:ext cx="25654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32-step observed runtime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55600" y="889000"/>
            <a:ext cx="11480800" cy="0"/>
          </a:xfrm>
          <a:prstGeom prst="line">
            <a:avLst/>
          </a:prstGeom>
          <a:ln w="12700">
            <a:solidFill>
              <a:srgbClr val="D9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355600" y="1054100"/>
            <a:ext cx="7162800" cy="5435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520700" y="1193800"/>
            <a:ext cx="2794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0700" y="11938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9000" y="1162050"/>
            <a:ext cx="4826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4213D"/>
                </a:solidFill>
                <a:latin typeface="Microsoft YaHei"/>
              </a:defRPr>
            </a:pPr>
            <a:r>
              <a:t>Edge 单次推理框图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99100" y="1200150"/>
            <a:ext cx="18161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去除 WebSocket I/O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33400" y="1536700"/>
            <a:ext cx="5588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3400" y="153670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8400" y="1536700"/>
            <a:ext cx="12065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输入汇聚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3400" y="1790700"/>
            <a:ext cx="1371600" cy="16383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7700" y="1879599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Input &amp; Batch Prep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7700" y="2082800"/>
            <a:ext cx="1143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build_sample / transform / batch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7700" y="2374900"/>
            <a:ext cx="1143000" cy="3175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11200" y="2400300"/>
            <a:ext cx="1016000" cy="120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09A9C8"/>
                </a:solidFill>
                <a:latin typeface="Microsoft YaHei"/>
              </a:defRPr>
            </a:pPr>
            <a:r>
              <a:t>VIDEO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200" y="2520950"/>
            <a:ext cx="1016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[1,3,33,544,736]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7700" y="2768600"/>
            <a:ext cx="1143000" cy="3175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1200" y="2794000"/>
            <a:ext cx="1016000" cy="120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E69A24"/>
                </a:solidFill>
                <a:latin typeface="Microsoft YaHei"/>
              </a:defRPr>
            </a:pPr>
            <a:r>
              <a:t>ACTION / STATE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1200" y="2914650"/>
            <a:ext cx="1016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[33,64] · row0=state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47700" y="3162300"/>
            <a:ext cx="1143000" cy="3175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1200" y="3187700"/>
            <a:ext cx="1016000" cy="120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677FF"/>
                </a:solidFill>
                <a:latin typeface="Microsoft YaHei"/>
              </a:defRPr>
            </a:pPr>
            <a:r>
              <a:t>PROMPT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1200" y="3308350"/>
            <a:ext cx="1016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cond / uncond text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032000" y="1498600"/>
            <a:ext cx="5130800" cy="2120900"/>
          </a:xfrm>
          <a:prstGeom prst="roundRect">
            <a:avLst/>
          </a:prstGeom>
          <a:solidFill>
            <a:srgbClr val="F9FBFE"/>
          </a:solidFill>
          <a:ln w="19050">
            <a:solidFill>
              <a:srgbClr val="8FB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146300" y="1600200"/>
            <a:ext cx="5588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46300" y="160020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2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781300" y="1600200"/>
            <a:ext cx="11176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781300" y="1600200"/>
            <a:ext cx="11176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prepare_data_total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00500" y="1612900"/>
            <a:ext cx="29591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5E6B82"/>
                </a:solidFill>
                <a:latin typeface="Microsoft YaHei"/>
              </a:defRPr>
            </a:pPr>
            <a:r>
              <a:t>模态编码 → 顺序打包 → 联合扩散初值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209800" y="1993899"/>
            <a:ext cx="1460500" cy="6858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8CCE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2209800" y="1993899"/>
            <a:ext cx="44450" cy="685800"/>
          </a:xfrm>
          <a:prstGeom prst="roundRect">
            <a:avLst/>
          </a:prstGeom>
          <a:solidFill>
            <a:srgbClr val="09A9C8"/>
          </a:solidFill>
          <a:ln w="635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324100" y="2063750"/>
            <a:ext cx="1270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VAE Encoder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324100" y="2254250"/>
            <a:ext cx="1270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video → latent</a:t>
            </a:r>
            <a:br/>
            <a:r>
              <a:t>[1,48,9,34,46] → [1,48,9,33,40]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327400" y="2051049"/>
            <a:ext cx="266700" cy="215900"/>
          </a:xfrm>
          <a:prstGeom prst="roundRect">
            <a:avLst/>
          </a:prstGeom>
          <a:solidFill>
            <a:srgbClr val="09A9C8"/>
          </a:solidFill>
          <a:ln w="635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327400" y="2051049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V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209800" y="2882900"/>
            <a:ext cx="1460500" cy="5207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8FB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2209800" y="2882900"/>
            <a:ext cx="44450" cy="5207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324100" y="2952750"/>
            <a:ext cx="1270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4213D"/>
                </a:solidFill>
                <a:latin typeface="Microsoft YaHei"/>
              </a:defRPr>
            </a:pPr>
            <a:r>
              <a:t>Tokenize Text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24100" y="3143250"/>
            <a:ext cx="1270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cond 105→107 · uncond 17→19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3327400" y="2940050"/>
            <a:ext cx="2667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327400" y="29400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T</a:t>
            </a:r>
          </a:p>
        </p:txBody>
      </p:sp>
      <p:cxnSp>
        <p:nvCxnSpPr>
          <p:cNvPr id="110" name="Connector 109"/>
          <p:cNvCxnSpPr/>
          <p:nvPr/>
        </p:nvCxnSpPr>
        <p:spPr>
          <a:xfrm flipV="1">
            <a:off x="1917700" y="2317750"/>
            <a:ext cx="266700" cy="215900"/>
          </a:xfrm>
          <a:prstGeom prst="line">
            <a:avLst/>
          </a:prstGeom>
          <a:ln w="25400">
            <a:solidFill>
              <a:srgbClr val="09A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Isosceles Triangle 110"/>
          <p:cNvSpPr/>
          <p:nvPr/>
        </p:nvSpPr>
        <p:spPr>
          <a:xfrm rot="3060540">
            <a:off x="2127250" y="226060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>
            <a:off x="1917700" y="2927350"/>
            <a:ext cx="127000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044700" y="2927350"/>
            <a:ext cx="0" cy="55245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044700" y="3479800"/>
            <a:ext cx="2031999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V="1">
            <a:off x="4076699" y="3149600"/>
            <a:ext cx="0" cy="33020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4076699" y="3149600"/>
            <a:ext cx="101601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Isosceles Triangle 116"/>
          <p:cNvSpPr/>
          <p:nvPr/>
        </p:nvSpPr>
        <p:spPr>
          <a:xfrm rot="5400000">
            <a:off x="4121150" y="3092450"/>
            <a:ext cx="114300" cy="114300"/>
          </a:xfrm>
          <a:prstGeom prst="triangle">
            <a:avLst/>
          </a:prstGeom>
          <a:solidFill>
            <a:srgbClr val="E69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" name="Connector 117"/>
          <p:cNvCxnSpPr/>
          <p:nvPr/>
        </p:nvCxnSpPr>
        <p:spPr>
          <a:xfrm flipV="1">
            <a:off x="1917700" y="3143250"/>
            <a:ext cx="266700" cy="17780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Isosceles Triangle 118"/>
          <p:cNvSpPr/>
          <p:nvPr/>
        </p:nvSpPr>
        <p:spPr>
          <a:xfrm rot="3378596">
            <a:off x="2127250" y="308610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628900" y="3378200"/>
            <a:ext cx="13081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E69A24"/>
                </a:solidFill>
                <a:latin typeface="Microsoft YaHei"/>
              </a:defRPr>
            </a:pPr>
            <a:r>
              <a:t>ACTION LATENT [33,64]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203700" y="1930400"/>
            <a:ext cx="2781300" cy="1473200"/>
          </a:xfrm>
          <a:prstGeom prst="roundRect">
            <a:avLst/>
          </a:prstGeom>
          <a:solidFill>
            <a:srgbClr val="FFF5E4"/>
          </a:solidFill>
          <a:ln w="19050">
            <a:solidFill>
              <a:srgbClr val="E8BE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4318000" y="2032000"/>
            <a:ext cx="12192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318000" y="2032000"/>
            <a:ext cx="12192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PACK + NOISE INIT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13400" y="2038349"/>
            <a:ext cx="12573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800" b="1">
                <a:solidFill>
                  <a:srgbClr val="14213D"/>
                </a:solidFill>
                <a:latin typeface="Microsoft YaHei"/>
              </a:defRPr>
            </a:pPr>
            <a:r>
              <a:t>严格 token 顺序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695700" y="2324100"/>
            <a:ext cx="482600" cy="63500"/>
          </a:xfrm>
          <a:prstGeom prst="line">
            <a:avLst/>
          </a:prstGeom>
          <a:ln w="25400">
            <a:solidFill>
              <a:srgbClr val="09A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Isosceles Triangle 125"/>
          <p:cNvSpPr/>
          <p:nvPr/>
        </p:nvSpPr>
        <p:spPr>
          <a:xfrm rot="5849751">
            <a:off x="4121150" y="233045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721100" y="2171700"/>
            <a:ext cx="4445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09A9C8"/>
                </a:solidFill>
                <a:latin typeface="Microsoft YaHei"/>
              </a:defRPr>
            </a:pPr>
            <a:r>
              <a:t>V-LATENT</a:t>
            </a:r>
          </a:p>
        </p:txBody>
      </p:sp>
      <p:cxnSp>
        <p:nvCxnSpPr>
          <p:cNvPr id="128" name="Connector 127"/>
          <p:cNvCxnSpPr/>
          <p:nvPr/>
        </p:nvCxnSpPr>
        <p:spPr>
          <a:xfrm flipV="1">
            <a:off x="3695700" y="2882900"/>
            <a:ext cx="482600" cy="26670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Isosceles Triangle 128"/>
          <p:cNvSpPr/>
          <p:nvPr/>
        </p:nvSpPr>
        <p:spPr>
          <a:xfrm rot="3664414">
            <a:off x="4121150" y="282575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708400" y="3022600"/>
            <a:ext cx="4572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550" b="1">
                <a:solidFill>
                  <a:srgbClr val="1677FF"/>
                </a:solidFill>
                <a:latin typeface="Microsoft YaHei"/>
              </a:defRPr>
            </a:pPr>
            <a:r>
              <a:t>TEXT IDS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4330700" y="2349500"/>
            <a:ext cx="711200" cy="3810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330700" y="2393950"/>
            <a:ext cx="7112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677FF"/>
                </a:solidFill>
                <a:latin typeface="Microsoft YaHei"/>
              </a:defRPr>
            </a:pPr>
            <a:r>
              <a:t>① TEXT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30700" y="2546350"/>
            <a:ext cx="7112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C107 / U19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067300" y="2349500"/>
            <a:ext cx="914400" cy="3810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067300" y="2393950"/>
            <a:ext cx="9144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09A9C8"/>
                </a:solidFill>
                <a:latin typeface="Microsoft YaHei"/>
              </a:defRPr>
            </a:pPr>
            <a:r>
              <a:t>② VISION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067300" y="2546350"/>
            <a:ext cx="9144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3060 patches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007100" y="2349500"/>
            <a:ext cx="838200" cy="3810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007100" y="2393950"/>
            <a:ext cx="8382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20A464"/>
                </a:solidFill>
                <a:latin typeface="Microsoft YaHei"/>
              </a:defRPr>
            </a:pPr>
            <a:r>
              <a:t>③ ACTION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007100" y="2546350"/>
            <a:ext cx="8382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33 tokens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5041900" y="2540000"/>
            <a:ext cx="12700" cy="0"/>
          </a:xfrm>
          <a:prstGeom prst="line">
            <a:avLst/>
          </a:prstGeom>
          <a:ln w="127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/>
          <p:cNvSpPr/>
          <p:nvPr/>
        </p:nvSpPr>
        <p:spPr>
          <a:xfrm rot="5400000">
            <a:off x="4997450" y="248285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Connector 141"/>
          <p:cNvCxnSpPr/>
          <p:nvPr/>
        </p:nvCxnSpPr>
        <p:spPr>
          <a:xfrm>
            <a:off x="5981700" y="2540000"/>
            <a:ext cx="12700" cy="0"/>
          </a:xfrm>
          <a:prstGeom prst="line">
            <a:avLst/>
          </a:prstGeom>
          <a:ln w="12700">
            <a:solidFill>
              <a:srgbClr val="09A9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Isosceles Triangle 142"/>
          <p:cNvSpPr/>
          <p:nvPr/>
        </p:nvSpPr>
        <p:spPr>
          <a:xfrm rot="5400000">
            <a:off x="5937250" y="248285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330700" y="2800350"/>
            <a:ext cx="25146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83B66"/>
                </a:solidFill>
                <a:latin typeface="Microsoft YaHei"/>
              </a:defRPr>
            </a:pPr>
            <a:r>
              <a:t>packed hidden: cond [3200,2048] · uncond [3112,2048]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330700" y="2984500"/>
            <a:ext cx="2514600" cy="304800"/>
          </a:xfrm>
          <a:prstGeom prst="roundRect">
            <a:avLst/>
          </a:prstGeom>
          <a:solidFill>
            <a:srgbClr val="FDECEF"/>
          </a:solidFill>
          <a:ln w="12700">
            <a:solidFill>
              <a:srgbClr val="E9A9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394200" y="3009900"/>
            <a:ext cx="23876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1">
                <a:solidFill>
                  <a:srgbClr val="D94A5A"/>
                </a:solidFill>
                <a:latin typeface="Microsoft YaHei"/>
              </a:defRPr>
            </a:pPr>
            <a:r>
              <a:t>JOINT NOISE / LATENT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394200" y="3136900"/>
            <a:ext cx="2387600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noise_v [1,48,9,33,40]  +  noise_a [33,64]  → flat [572352]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5588000" y="3429000"/>
            <a:ext cx="0" cy="304799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635000" y="3733799"/>
            <a:ext cx="4953000" cy="0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>
            <a:off x="635000" y="3733799"/>
            <a:ext cx="0" cy="685801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>
            <a:off x="635000" y="4419600"/>
            <a:ext cx="76200" cy="0"/>
          </a:xfrm>
          <a:prstGeom prst="line">
            <a:avLst/>
          </a:prstGeom>
          <a:ln w="3175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Isosceles Triangle 151"/>
          <p:cNvSpPr/>
          <p:nvPr/>
        </p:nvSpPr>
        <p:spPr>
          <a:xfrm rot="5400000">
            <a:off x="654050" y="4362450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2590800" y="3638550"/>
            <a:ext cx="2247900" cy="1905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590800" y="3638550"/>
            <a:ext cx="22479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FFFFFF"/>
                </a:solidFill>
                <a:latin typeface="Microsoft YaHei"/>
              </a:defRPr>
            </a:pPr>
            <a:r>
              <a:t>PACKED CONDITIONS + JOINT LATENT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33400" y="3873499"/>
            <a:ext cx="6629400" cy="1638300"/>
          </a:xfrm>
          <a:prstGeom prst="roundRect">
            <a:avLst/>
          </a:prstGeom>
          <a:solidFill>
            <a:srgbClr val="F9FBFE"/>
          </a:solidFill>
          <a:ln w="19050">
            <a:solidFill>
              <a:srgbClr val="8FB0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711200" y="3968750"/>
            <a:ext cx="5588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11200" y="396875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3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1346200" y="3968750"/>
            <a:ext cx="901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346200" y="3968750"/>
            <a:ext cx="901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sampler_total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362200" y="3987799"/>
            <a:ext cx="3302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5E6B82"/>
                </a:solidFill>
                <a:latin typeface="Microsoft YaHei"/>
              </a:defRPr>
            </a:pPr>
            <a:r>
              <a:t>双分支 MoT 去噪 → CFG 合流 → joint latent 更新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007100" y="3962399"/>
            <a:ext cx="10033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007100" y="3962399"/>
            <a:ext cx="10033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UniPC × 4 steps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736600" y="4292600"/>
            <a:ext cx="1993899" cy="4572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8FB9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736600" y="4292600"/>
            <a:ext cx="44450" cy="4572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850900" y="4362450"/>
            <a:ext cx="18034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14213D"/>
                </a:solidFill>
                <a:latin typeface="Microsoft YaHei"/>
              </a:defRPr>
            </a:pPr>
            <a:r>
              <a:t>Conditional MoT forward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50900" y="4552950"/>
            <a:ext cx="18034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C [3200,2048] → v_c{video, action}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387600" y="4349750"/>
            <a:ext cx="266700" cy="21590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387600" y="43497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C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736600" y="4889500"/>
            <a:ext cx="1993899" cy="4445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ounded Rectangle 169"/>
          <p:cNvSpPr/>
          <p:nvPr/>
        </p:nvSpPr>
        <p:spPr>
          <a:xfrm>
            <a:off x="736600" y="4889500"/>
            <a:ext cx="44450" cy="4445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50900" y="4959350"/>
            <a:ext cx="18034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800" b="1">
                <a:solidFill>
                  <a:srgbClr val="14213D"/>
                </a:solidFill>
                <a:latin typeface="Microsoft YaHei"/>
              </a:defRPr>
            </a:pPr>
            <a:r>
              <a:t>Unconditional MoT forward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50900" y="5149850"/>
            <a:ext cx="18034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U [3112,2048] → v_u · guidance≠1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2387600" y="4946650"/>
            <a:ext cx="2667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87600" y="49466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U</a:t>
            </a:r>
          </a:p>
        </p:txBody>
      </p:sp>
      <p:cxnSp>
        <p:nvCxnSpPr>
          <p:cNvPr id="175" name="Connector 174"/>
          <p:cNvCxnSpPr/>
          <p:nvPr/>
        </p:nvCxnSpPr>
        <p:spPr>
          <a:xfrm>
            <a:off x="635000" y="4419600"/>
            <a:ext cx="0" cy="69215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>
            <a:off x="635000" y="5111750"/>
            <a:ext cx="76200" cy="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Isosceles Triangle 176"/>
          <p:cNvSpPr/>
          <p:nvPr/>
        </p:nvSpPr>
        <p:spPr>
          <a:xfrm rot="5400000">
            <a:off x="654050" y="5054600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8" name="Connector 177"/>
          <p:cNvCxnSpPr/>
          <p:nvPr/>
        </p:nvCxnSpPr>
        <p:spPr>
          <a:xfrm>
            <a:off x="2755900" y="4521200"/>
            <a:ext cx="520700" cy="165100"/>
          </a:xfrm>
          <a:prstGeom prst="line">
            <a:avLst/>
          </a:prstGeom>
          <a:ln w="25400">
            <a:solidFill>
              <a:srgbClr val="1677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Isosceles Triangle 178"/>
          <p:cNvSpPr/>
          <p:nvPr/>
        </p:nvSpPr>
        <p:spPr>
          <a:xfrm rot="6455545">
            <a:off x="3219450" y="4629150"/>
            <a:ext cx="114300" cy="114300"/>
          </a:xfrm>
          <a:prstGeom prst="triangl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0" name="Connector 179"/>
          <p:cNvCxnSpPr/>
          <p:nvPr/>
        </p:nvCxnSpPr>
        <p:spPr>
          <a:xfrm flipV="1">
            <a:off x="2755900" y="4965700"/>
            <a:ext cx="520700" cy="146050"/>
          </a:xfrm>
          <a:prstGeom prst="line">
            <a:avLst/>
          </a:prstGeom>
          <a:ln w="25400">
            <a:solidFill>
              <a:srgbClr val="183B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Isosceles Triangle 180"/>
          <p:cNvSpPr/>
          <p:nvPr/>
        </p:nvSpPr>
        <p:spPr>
          <a:xfrm rot="4459910">
            <a:off x="3219450" y="4908550"/>
            <a:ext cx="114300" cy="114300"/>
          </a:xfrm>
          <a:prstGeom prst="triangle">
            <a:avLst/>
          </a:prstGeom>
          <a:solidFill>
            <a:srgbClr val="18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Diamond 181"/>
          <p:cNvSpPr/>
          <p:nvPr/>
        </p:nvSpPr>
        <p:spPr>
          <a:xfrm>
            <a:off x="3302000" y="4508500"/>
            <a:ext cx="965200" cy="660400"/>
          </a:xfrm>
          <a:prstGeom prst="diamond">
            <a:avLst/>
          </a:prstGeom>
          <a:solidFill>
            <a:srgbClr val="FFF5E4"/>
          </a:solidFill>
          <a:ln w="1524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390900" y="4629150"/>
            <a:ext cx="7874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14213D"/>
                </a:solidFill>
                <a:latin typeface="Microsoft YaHei"/>
              </a:defRPr>
            </a:pPr>
            <a:r>
              <a:t>CFG MERGE</a:t>
            </a:r>
            <a:br/>
            <a:r>
              <a:t>v = v_u + 3(v_c−v_u)</a:t>
            </a:r>
          </a:p>
        </p:txBody>
      </p:sp>
      <p:cxnSp>
        <p:nvCxnSpPr>
          <p:cNvPr id="184" name="Connector 183"/>
          <p:cNvCxnSpPr/>
          <p:nvPr/>
        </p:nvCxnSpPr>
        <p:spPr>
          <a:xfrm>
            <a:off x="4292600" y="4838700"/>
            <a:ext cx="254000" cy="0"/>
          </a:xfrm>
          <a:prstGeom prst="line">
            <a:avLst/>
          </a:prstGeom>
          <a:ln w="25400">
            <a:solidFill>
              <a:srgbClr val="E69A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Isosceles Triangle 184"/>
          <p:cNvSpPr/>
          <p:nvPr/>
        </p:nvSpPr>
        <p:spPr>
          <a:xfrm rot="5400000">
            <a:off x="4489450" y="4781550"/>
            <a:ext cx="114300" cy="114300"/>
          </a:xfrm>
          <a:prstGeom prst="triangle">
            <a:avLst/>
          </a:prstGeom>
          <a:solidFill>
            <a:srgbClr val="E69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4572000" y="4419600"/>
            <a:ext cx="2400300" cy="8001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90CF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4572000" y="4419600"/>
            <a:ext cx="44450" cy="8001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4686300" y="4489450"/>
            <a:ext cx="22098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Joint latent update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686300" y="4679950"/>
            <a:ext cx="2209800" cy="482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  <a:defRPr sz="800" b="0">
                <a:solidFill>
                  <a:srgbClr val="5E6B82"/>
                </a:solidFill>
                <a:latin typeface="Microsoft YaHei"/>
              </a:defRPr>
            </a:pPr>
            <a:r>
              <a:t>UniPC 同步更新两种生成状态</a:t>
            </a:r>
            <a:br/>
            <a:r>
              <a:t>video latent [1,48,9,33,40]</a:t>
            </a:r>
            <a:br/>
            <a:r>
              <a:t>action latent [33,64]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6629400" y="4476750"/>
            <a:ext cx="2667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629400" y="4476750"/>
            <a:ext cx="2667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Z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5765800" y="5245100"/>
            <a:ext cx="0" cy="16510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H="1">
            <a:off x="622300" y="5410200"/>
            <a:ext cx="5143500" cy="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 flipV="1">
            <a:off x="622300" y="4521200"/>
            <a:ext cx="0" cy="88900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622300" y="4521200"/>
            <a:ext cx="88900" cy="0"/>
          </a:xfrm>
          <a:prstGeom prst="line">
            <a:avLst/>
          </a:prstGeom>
          <a:ln w="1905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6" name="Isosceles Triangle 195"/>
          <p:cNvSpPr/>
          <p:nvPr/>
        </p:nvSpPr>
        <p:spPr>
          <a:xfrm rot="5400000">
            <a:off x="654050" y="4464050"/>
            <a:ext cx="114300" cy="114300"/>
          </a:xfrm>
          <a:prstGeom prst="triangle">
            <a:avLst/>
          </a:prstGeom>
          <a:solidFill>
            <a:srgbClr val="20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2895600" y="5283200"/>
            <a:ext cx="21844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STEP 1→4 · 共 8 次 MoT forward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33400" y="5651500"/>
            <a:ext cx="6629400" cy="685800"/>
          </a:xfrm>
          <a:prstGeom prst="roundRect">
            <a:avLst/>
          </a:prstGeom>
          <a:solidFill>
            <a:srgbClr val="F9FBFE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ounded Rectangle 198"/>
          <p:cNvSpPr/>
          <p:nvPr/>
        </p:nvSpPr>
        <p:spPr>
          <a:xfrm>
            <a:off x="647700" y="5746750"/>
            <a:ext cx="5588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647700" y="5746750"/>
            <a:ext cx="5588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STEP 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295400" y="5753100"/>
            <a:ext cx="9525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生成输出</a:t>
            </a:r>
          </a:p>
        </p:txBody>
      </p:sp>
      <p:cxnSp>
        <p:nvCxnSpPr>
          <p:cNvPr id="202" name="Connector 201"/>
          <p:cNvCxnSpPr/>
          <p:nvPr/>
        </p:nvCxnSpPr>
        <p:spPr>
          <a:xfrm>
            <a:off x="6134100" y="5245100"/>
            <a:ext cx="0" cy="3429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 202"/>
          <p:cNvCxnSpPr/>
          <p:nvPr/>
        </p:nvCxnSpPr>
        <p:spPr>
          <a:xfrm flipH="1">
            <a:off x="2692400" y="5588000"/>
            <a:ext cx="3441700" cy="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203"/>
          <p:cNvCxnSpPr/>
          <p:nvPr/>
        </p:nvCxnSpPr>
        <p:spPr>
          <a:xfrm>
            <a:off x="2692400" y="5588000"/>
            <a:ext cx="0" cy="228600"/>
          </a:xfrm>
          <a:prstGeom prst="line">
            <a:avLst/>
          </a:prstGeom>
          <a:ln w="25400">
            <a:solidFill>
              <a:srgbClr val="20A4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Isosceles Triangle 204"/>
          <p:cNvSpPr/>
          <p:nvPr/>
        </p:nvSpPr>
        <p:spPr>
          <a:xfrm rot="10800000">
            <a:off x="2635250" y="5759450"/>
            <a:ext cx="114300" cy="114300"/>
          </a:xfrm>
          <a:prstGeom prst="triangle">
            <a:avLst/>
          </a:prstGeom>
          <a:solidFill>
            <a:srgbClr val="20A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6" name="Connector 205"/>
          <p:cNvCxnSpPr/>
          <p:nvPr/>
        </p:nvCxnSpPr>
        <p:spPr>
          <a:xfrm flipH="1">
            <a:off x="5232400" y="5588000"/>
            <a:ext cx="901700" cy="0"/>
          </a:xfrm>
          <a:prstGeom prst="line">
            <a:avLst/>
          </a:prstGeom>
          <a:ln w="25400">
            <a:solidFill>
              <a:srgbClr val="09A9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6"/>
          <p:cNvCxnSpPr/>
          <p:nvPr/>
        </p:nvCxnSpPr>
        <p:spPr>
          <a:xfrm>
            <a:off x="5232400" y="5588000"/>
            <a:ext cx="0" cy="228600"/>
          </a:xfrm>
          <a:prstGeom prst="line">
            <a:avLst/>
          </a:prstGeom>
          <a:ln w="25400">
            <a:solidFill>
              <a:srgbClr val="09A9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Isosceles Triangle 207"/>
          <p:cNvSpPr/>
          <p:nvPr/>
        </p:nvSpPr>
        <p:spPr>
          <a:xfrm rot="10800000">
            <a:off x="5175250" y="5759450"/>
            <a:ext cx="114300" cy="114300"/>
          </a:xfrm>
          <a:prstGeom prst="triangle">
            <a:avLst/>
          </a:prstGeom>
          <a:solidFill>
            <a:srgbClr val="09A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2273300" y="5842000"/>
            <a:ext cx="2286000" cy="3810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90CF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2362200" y="5880100"/>
            <a:ext cx="210820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20A464"/>
                </a:solidFill>
                <a:latin typeface="Microsoft YaHei"/>
              </a:defRPr>
            </a:pPr>
            <a:r>
              <a:t>ACTION GENERATION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2362200" y="6026150"/>
            <a:ext cx="21082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[33,64] → postprocess → robot action [32,8]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4686300" y="5842000"/>
            <a:ext cx="2324100" cy="381000"/>
          </a:xfrm>
          <a:prstGeom prst="roundRect">
            <a:avLst/>
          </a:prstGeom>
          <a:solidFill>
            <a:srgbClr val="E7F8FB"/>
          </a:solidFill>
          <a:ln w="12700">
            <a:solidFill>
              <a:srgbClr val="8CCE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4775200" y="5880100"/>
            <a:ext cx="2146300" cy="13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00" b="1">
                <a:solidFill>
                  <a:srgbClr val="09A9C8"/>
                </a:solidFill>
                <a:latin typeface="Microsoft YaHei"/>
              </a:defRPr>
            </a:pPr>
            <a:r>
              <a:t>VIDEO GENERATION（可选）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4775200" y="6026150"/>
            <a:ext cx="21463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[1,48,9,33,40] → VAE Decoder → future video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7670800" y="1054100"/>
            <a:ext cx="4165600" cy="2679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7823200" y="1193800"/>
            <a:ext cx="279400" cy="21590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823200" y="11938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8191500" y="1155700"/>
            <a:ext cx="3175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参数与计算结构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823200" y="1454150"/>
            <a:ext cx="3848099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50" b="0">
                <a:solidFill>
                  <a:srgbClr val="5E6B82"/>
                </a:solidFill>
                <a:latin typeface="Microsoft YaHei"/>
              </a:defRPr>
            </a:pPr>
            <a:r>
              <a:t>采用官方口径；FLOPs 未统一披露，以 denoiser 次数作复杂度 proxy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823200" y="1714500"/>
            <a:ext cx="952500" cy="279400"/>
          </a:xfrm>
          <a:prstGeom prst="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854950" y="1714500"/>
            <a:ext cx="889000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指标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8775700" y="1714500"/>
            <a:ext cx="927100" cy="279400"/>
          </a:xfrm>
          <a:prstGeom prst="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8807450" y="1714500"/>
            <a:ext cx="863600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Cosmos3 Edge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9702800" y="1714500"/>
            <a:ext cx="927100" cy="279400"/>
          </a:xfrm>
          <a:prstGeom prst="rect">
            <a:avLst/>
          </a:prstGeom>
          <a:solidFill>
            <a:srgbClr val="09A9C8"/>
          </a:solidFill>
          <a:ln w="6350">
            <a:solidFill>
              <a:srgbClr val="09A9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9734550" y="1714500"/>
            <a:ext cx="863600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Cosmos3 Nano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10629900" y="1714500"/>
            <a:ext cx="1054100" cy="279400"/>
          </a:xfrm>
          <a:prstGeom prst="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10661650" y="1714500"/>
            <a:ext cx="990599" cy="279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FFFFFF"/>
                </a:solidFill>
                <a:latin typeface="Microsoft YaHei"/>
              </a:defRPr>
            </a:pPr>
            <a:r>
              <a:t>LingBot-VA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7823200" y="1993899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7861299" y="1993899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总参 / 激活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8775700" y="1993899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8813800" y="1993899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4B / dense 2B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9702800" y="1993899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9740900" y="1993899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16B / dense 8B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0629900" y="1993899"/>
            <a:ext cx="1054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0668000" y="1993899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5.3B</a:t>
            </a:r>
            <a:br/>
            <a:r>
              <a:t>(5B+~350M)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823200" y="230505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861299" y="230505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层数 · hidden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775700" y="23050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813800" y="23050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28 · 2048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702800" y="23050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740900" y="23050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36 · 4096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629900" y="2305050"/>
            <a:ext cx="1054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668000" y="230505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30 · 3072/768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7823200" y="261620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7861299" y="261620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FFN / 双流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8775700" y="26162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8813800" y="26162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9216 · MoT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9702800" y="26162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9740900" y="26162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12288 · MoT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10629900" y="2616200"/>
            <a:ext cx="1054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10668000" y="261620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隔离 FFN 双流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823200" y="292735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861299" y="292735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动作 / 去噪</a:t>
            </a:r>
          </a:p>
        </p:txBody>
      </p:sp>
      <p:sp>
        <p:nvSpPr>
          <p:cNvPr id="254" name="Rectangle 253"/>
          <p:cNvSpPr/>
          <p:nvPr/>
        </p:nvSpPr>
        <p:spPr>
          <a:xfrm>
            <a:off x="8775700" y="29273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8813800" y="29273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32×8 · 4 steps</a:t>
            </a:r>
          </a:p>
        </p:txBody>
      </p:sp>
      <p:sp>
        <p:nvSpPr>
          <p:cNvPr id="256" name="Rectangle 255"/>
          <p:cNvSpPr/>
          <p:nvPr/>
        </p:nvSpPr>
        <p:spPr>
          <a:xfrm>
            <a:off x="9702800" y="2927350"/>
            <a:ext cx="927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9740900" y="292735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32-step profile*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10629900" y="2927350"/>
            <a:ext cx="1054100" cy="31115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10668000" y="292735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K=4 · V3/A10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7823200" y="3238500"/>
            <a:ext cx="952500" cy="311150"/>
          </a:xfrm>
          <a:prstGeom prst="rect">
            <a:avLst/>
          </a:prstGeom>
          <a:solidFill>
            <a:srgbClr val="EDF2F8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7861299" y="3238500"/>
            <a:ext cx="8763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50" b="1">
                <a:solidFill>
                  <a:srgbClr val="14213D"/>
                </a:solidFill>
                <a:latin typeface="Microsoft YaHei"/>
              </a:defRPr>
            </a:pPr>
            <a:r>
              <a:t>请求复杂度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8775700" y="32385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8813800" y="32385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8 MoT forwards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9702800" y="3238500"/>
            <a:ext cx="927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9740900" y="3238500"/>
            <a:ext cx="850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8 MoT forwards*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10629900" y="3238500"/>
            <a:ext cx="1054100" cy="311150"/>
          </a:xfrm>
          <a:prstGeom prst="rect">
            <a:avLst/>
          </a:prstGeom>
          <a:solidFill>
            <a:srgbClr val="F6F9FD"/>
          </a:solidFill>
          <a:ln w="635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10668000" y="3238500"/>
            <a:ext cx="977900" cy="3111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700" b="0">
                <a:solidFill>
                  <a:srgbClr val="5E6B82"/>
                </a:solidFill>
                <a:latin typeface="Microsoft YaHei"/>
              </a:defRPr>
            </a:pPr>
            <a:r>
              <a:t>异步因果双时标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7823200" y="3568700"/>
            <a:ext cx="3873499" cy="114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* Nano 为同一 profiling 配置口径；架构与 action chunk 是独立配置。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7670800" y="3873499"/>
            <a:ext cx="4165600" cy="261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ounded Rectangle 269"/>
          <p:cNvSpPr/>
          <p:nvPr/>
        </p:nvSpPr>
        <p:spPr>
          <a:xfrm>
            <a:off x="7823200" y="4013200"/>
            <a:ext cx="279400" cy="21590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7823200" y="4013200"/>
            <a:ext cx="2794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8191500" y="3975100"/>
            <a:ext cx="3175000" cy="241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350" b="1">
                <a:solidFill>
                  <a:srgbClr val="14213D"/>
                </a:solidFill>
                <a:latin typeface="Microsoft YaHei"/>
              </a:defRPr>
            </a:pPr>
            <a:r>
              <a:t>具身关键创新与竞品定位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7823200" y="4318000"/>
            <a:ext cx="1231900" cy="901700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ounded Rectangle 273"/>
          <p:cNvSpPr/>
          <p:nvPr/>
        </p:nvSpPr>
        <p:spPr>
          <a:xfrm>
            <a:off x="7823200" y="4318000"/>
            <a:ext cx="1231900" cy="44450"/>
          </a:xfrm>
          <a:prstGeom prst="roundRect">
            <a:avLst/>
          </a:prstGeom>
          <a:solidFill>
            <a:srgbClr val="1677FF"/>
          </a:solidFill>
          <a:ln w="6350">
            <a:solidFill>
              <a:srgbClr val="16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912100" y="4432300"/>
            <a:ext cx="10541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同体双塔 MoT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7899400" y="4648200"/>
            <a:ext cx="10795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统一 foundation model</a:t>
            </a:r>
            <a:br/>
            <a:r>
              <a:t>覆盖 reasoning / generation</a:t>
            </a:r>
            <a:br/>
            <a:r>
              <a:t>/ action 三种模式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9131300" y="4318000"/>
            <a:ext cx="1231900" cy="901700"/>
          </a:xfrm>
          <a:prstGeom prst="roundRect">
            <a:avLst/>
          </a:prstGeom>
          <a:solidFill>
            <a:srgbClr val="FFF5E4"/>
          </a:solidFill>
          <a:ln w="1270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9131300" y="4318000"/>
            <a:ext cx="1231900" cy="44450"/>
          </a:xfrm>
          <a:prstGeom prst="roundRect">
            <a:avLst/>
          </a:prstGeom>
          <a:solidFill>
            <a:srgbClr val="E69A24"/>
          </a:solidFill>
          <a:ln w="6350">
            <a:solidFill>
              <a:srgbClr val="E69A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220200" y="4432300"/>
            <a:ext cx="10541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Action-native Head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9207500" y="4648200"/>
            <a:ext cx="10795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动作专属 I/O projection</a:t>
            </a:r>
            <a:br/>
            <a:r>
              <a:t>与 FFN；状态行和未来 action</a:t>
            </a:r>
            <a:br/>
            <a:r>
              <a:t>同序列扩散</a:t>
            </a:r>
          </a:p>
        </p:txBody>
      </p:sp>
      <p:sp>
        <p:nvSpPr>
          <p:cNvPr id="281" name="Rounded Rectangle 280"/>
          <p:cNvSpPr/>
          <p:nvPr/>
        </p:nvSpPr>
        <p:spPr>
          <a:xfrm>
            <a:off x="10439400" y="4318000"/>
            <a:ext cx="1231900" cy="901700"/>
          </a:xfrm>
          <a:prstGeom prst="roundRect">
            <a:avLst/>
          </a:prstGeom>
          <a:solidFill>
            <a:srgbClr val="EAF8F1"/>
          </a:solidFill>
          <a:ln w="1270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ounded Rectangle 281"/>
          <p:cNvSpPr/>
          <p:nvPr/>
        </p:nvSpPr>
        <p:spPr>
          <a:xfrm>
            <a:off x="10439400" y="4318000"/>
            <a:ext cx="1231900" cy="44450"/>
          </a:xfrm>
          <a:prstGeom prst="roundRect">
            <a:avLst/>
          </a:prstGeom>
          <a:solidFill>
            <a:srgbClr val="20A464"/>
          </a:solidFill>
          <a:ln w="6350">
            <a:solidFill>
              <a:srgbClr val="20A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10528300" y="4432300"/>
            <a:ext cx="1054100" cy="177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900" b="1">
                <a:solidFill>
                  <a:srgbClr val="14213D"/>
                </a:solidFill>
                <a:latin typeface="Microsoft YaHei"/>
              </a:defRPr>
            </a:pPr>
            <a:r>
              <a:t>视频-动作联合预测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0515600" y="4648200"/>
            <a:ext cx="10795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600" b="0">
                <a:solidFill>
                  <a:srgbClr val="5E6B82"/>
                </a:solidFill>
                <a:latin typeface="Microsoft YaHei"/>
              </a:defRPr>
            </a:pPr>
            <a:r>
              <a:t>future visual 作为辅助监督</a:t>
            </a:r>
            <a:br/>
            <a:r>
              <a:t>部署时可跳过 decoder</a:t>
            </a:r>
            <a:br/>
            <a:r>
              <a:t>降低端到端延迟</a:t>
            </a:r>
          </a:p>
        </p:txBody>
      </p:sp>
      <p:sp>
        <p:nvSpPr>
          <p:cNvPr id="285" name="Rounded Rectangle 284"/>
          <p:cNvSpPr/>
          <p:nvPr/>
        </p:nvSpPr>
        <p:spPr>
          <a:xfrm>
            <a:off x="7823200" y="5346700"/>
            <a:ext cx="3860800" cy="749300"/>
          </a:xfrm>
          <a:prstGeom prst="roundRect">
            <a:avLst/>
          </a:prstGeom>
          <a:solidFill>
            <a:srgbClr val="EDF2F8"/>
          </a:solidFill>
          <a:ln w="12700">
            <a:solidFill>
              <a:srgbClr val="AFC2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ounded Rectangle 285"/>
          <p:cNvSpPr/>
          <p:nvPr/>
        </p:nvSpPr>
        <p:spPr>
          <a:xfrm>
            <a:off x="7924799" y="5441950"/>
            <a:ext cx="863600" cy="215900"/>
          </a:xfrm>
          <a:prstGeom prst="roundRect">
            <a:avLst/>
          </a:prstGeom>
          <a:solidFill>
            <a:srgbClr val="183B66"/>
          </a:solidFill>
          <a:ln w="6350">
            <a:solidFill>
              <a:srgbClr val="18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924799" y="5441950"/>
            <a:ext cx="863600" cy="2159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850" b="1">
                <a:solidFill>
                  <a:srgbClr val="FFFFFF"/>
                </a:solidFill>
                <a:latin typeface="Microsoft YaHei"/>
              </a:defRPr>
            </a:pPr>
            <a:r>
              <a:t>vs LingBot-VA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877300" y="5397500"/>
            <a:ext cx="2667000" cy="292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1">
                <a:solidFill>
                  <a:srgbClr val="183B66"/>
                </a:solidFill>
                <a:latin typeface="Microsoft YaHei"/>
              </a:defRPr>
            </a:pPr>
            <a:r>
              <a:t>优势在“统一模型迁移闭环”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924799" y="5715000"/>
            <a:ext cx="35814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750" b="0">
                <a:solidFill>
                  <a:srgbClr val="5E6B82"/>
                </a:solidFill>
                <a:latin typeface="Microsoft YaHei"/>
              </a:defRPr>
            </a:pPr>
            <a:r>
              <a:t>Edge：同模型贯通理解→生成→动作；LingBot-VA：面向实时控制的因果双流。</a:t>
            </a:r>
            <a:br/>
            <a:r>
              <a:t>结论：能力边界更统一 ≠ 已证明实时吞吐更高。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355600" y="6584950"/>
            <a:ext cx="114808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650" b="0">
                <a:solidFill>
                  <a:srgbClr val="5E6B82"/>
                </a:solidFill>
                <a:latin typeface="Microsoft YaHei"/>
              </a:defRPr>
            </a:pPr>
            <a:r>
              <a:t>Sources: Cosmos 3 paper (arXiv:2606.02800v4) · NVIDIA Edge Policy model card · LingBot-VA paper/repo · local Edge/Nano profiling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0922000" y="6584950"/>
            <a:ext cx="914400" cy="139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650" b="1">
                <a:solidFill>
                  <a:srgbClr val="5E6B82"/>
                </a:solidFill>
                <a:latin typeface="Microsoft YaHei"/>
              </a:defRPr>
            </a:pPr>
            <a:r>
              <a:t>2026.08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NVIDIA Cosmos3-Edge 模型洞察与竞品分析</dc:title>
  <dc:subject>模型分析情况｜架构、参数与具身创新</dc:subject>
  <dc:creator>Cosmos Framework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
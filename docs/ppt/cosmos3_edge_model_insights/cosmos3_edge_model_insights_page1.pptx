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讲解要点：左侧按真实 Edge Policy 32-step profiling 展示单次请求；默认 guidance=3、4 个 UniPC step，因此条件/无条件共 8 次 MoT 前向。右侧参数采用 Cosmos 3 与 LingBot-VA 官方论文/模型卡口径。LingBot-VA 是实时因果双流路线，不宜仅凭参数量宣称吞吐优劣。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048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096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192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5240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1336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4384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0480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3528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962399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2672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8768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1816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7912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7056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0104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6200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924799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5344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8392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4488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7536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3632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06680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12776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15824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30480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60960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91440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121920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152400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182880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213360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0" y="243840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0" y="274320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0" y="335280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0" y="365760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0" y="3962399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0" y="426720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0" y="457200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0" y="487680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0" y="518160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0" y="548640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0" y="579120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0" y="609600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0" y="640080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0" y="6705600"/>
            <a:ext cx="12192000" cy="0"/>
          </a:xfrm>
          <a:prstGeom prst="line">
            <a:avLst/>
          </a:prstGeom>
          <a:ln w="6350">
            <a:solidFill>
              <a:srgbClr val="EAF0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355600" y="254000"/>
            <a:ext cx="546100" cy="215900"/>
          </a:xfrm>
          <a:prstGeom prst="roundRect">
            <a:avLst/>
          </a:prstGeom>
          <a:solidFill>
            <a:srgbClr val="183B66"/>
          </a:solidFill>
          <a:ln w="6350">
            <a:solidFill>
              <a:srgbClr val="18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55600" y="254000"/>
            <a:ext cx="54610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MODEL 01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16000" y="215900"/>
            <a:ext cx="7493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300" b="1">
                <a:solidFill>
                  <a:srgbClr val="14213D"/>
                </a:solidFill>
                <a:latin typeface="Microsoft YaHei"/>
              </a:defRPr>
            </a:pPr>
            <a:r>
              <a:t>NVIDIA Cosmos3-Edge｜模型洞察与竞品分析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16000" y="603250"/>
            <a:ext cx="74930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50" b="0">
                <a:solidFill>
                  <a:srgbClr val="5E6B82"/>
                </a:solidFill>
                <a:latin typeface="Microsoft YaHei"/>
              </a:defRPr>
            </a:pPr>
            <a:r>
              <a:t>模型分析情况：单次推理架构 · 参数/计算结构 · 具身关键创新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271000" y="285750"/>
            <a:ext cx="25654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900" b="1">
                <a:solidFill>
                  <a:srgbClr val="1677FF"/>
                </a:solidFill>
                <a:latin typeface="Microsoft YaHei"/>
              </a:defRPr>
            </a:pPr>
            <a:r>
              <a:t>EDGE POLICY · DROID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271000" y="501650"/>
            <a:ext cx="2565400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800" b="0">
                <a:solidFill>
                  <a:srgbClr val="5E6B82"/>
                </a:solidFill>
                <a:latin typeface="Microsoft YaHei"/>
              </a:defRPr>
            </a:pPr>
            <a:r>
              <a:t>32-step observed runtime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355600" y="889000"/>
            <a:ext cx="11480800" cy="0"/>
          </a:xfrm>
          <a:prstGeom prst="line">
            <a:avLst/>
          </a:prstGeom>
          <a:ln w="12700">
            <a:solidFill>
              <a:srgbClr val="D9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355600" y="1054100"/>
            <a:ext cx="7162800" cy="5435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520700" y="1193800"/>
            <a:ext cx="279400" cy="215900"/>
          </a:xfrm>
          <a:prstGeom prst="roundRect">
            <a:avLst/>
          </a:prstGeom>
          <a:solidFill>
            <a:srgbClr val="1677FF"/>
          </a:solidFill>
          <a:ln w="6350"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20700" y="1193800"/>
            <a:ext cx="27940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89000" y="1162050"/>
            <a:ext cx="48260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400" b="1">
                <a:solidFill>
                  <a:srgbClr val="14213D"/>
                </a:solidFill>
                <a:latin typeface="Microsoft YaHei"/>
              </a:defRPr>
            </a:pPr>
            <a:r>
              <a:t>Edge 单次推理框图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99100" y="1200150"/>
            <a:ext cx="1816100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800" b="0">
                <a:solidFill>
                  <a:srgbClr val="5E6B82"/>
                </a:solidFill>
                <a:latin typeface="Microsoft YaHei"/>
              </a:defRPr>
            </a:pPr>
            <a:r>
              <a:t>去除 WebSocket I/O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33400" y="1536700"/>
            <a:ext cx="1651000" cy="558800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8FB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533400" y="1536700"/>
            <a:ext cx="44450" cy="558800"/>
          </a:xfrm>
          <a:prstGeom prst="roundRect">
            <a:avLst/>
          </a:prstGeom>
          <a:solidFill>
            <a:srgbClr val="1677FF"/>
          </a:solidFill>
          <a:ln w="6350"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7700" y="1606550"/>
            <a:ext cx="1460500" cy="165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1">
                <a:solidFill>
                  <a:srgbClr val="14213D"/>
                </a:solidFill>
                <a:latin typeface="Microsoft YaHei"/>
              </a:defRPr>
            </a:pPr>
            <a:r>
              <a:t>build_sample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7700" y="1797050"/>
            <a:ext cx="14605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defRPr sz="800" b="0">
                <a:solidFill>
                  <a:srgbClr val="5E6B82"/>
                </a:solidFill>
                <a:latin typeface="Microsoft YaHei"/>
              </a:defRPr>
            </a:pPr>
            <a:r>
              <a:t>RGB 540×640×3 · state 8D</a:t>
            </a:r>
            <a:br/>
            <a:r>
              <a:t>→ video [3,33,540,640]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841500" y="1593850"/>
            <a:ext cx="266700" cy="215900"/>
          </a:xfrm>
          <a:prstGeom prst="roundRect">
            <a:avLst/>
          </a:prstGeom>
          <a:solidFill>
            <a:srgbClr val="1677FF"/>
          </a:solidFill>
          <a:ln w="6350"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841500" y="1593850"/>
            <a:ext cx="26670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I/O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2209800" y="1816100"/>
            <a:ext cx="254000" cy="0"/>
          </a:xfrm>
          <a:prstGeom prst="line">
            <a:avLst/>
          </a:prstGeom>
          <a:ln w="25400">
            <a:solidFill>
              <a:srgbClr val="167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Isosceles Triangle 83"/>
          <p:cNvSpPr/>
          <p:nvPr/>
        </p:nvSpPr>
        <p:spPr>
          <a:xfrm rot="5400000">
            <a:off x="2406650" y="1758950"/>
            <a:ext cx="114300" cy="114300"/>
          </a:xfrm>
          <a:prstGeom prst="triangle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2489200" y="1536700"/>
            <a:ext cx="1968500" cy="558800"/>
          </a:xfrm>
          <a:prstGeom prst="roundRect">
            <a:avLst/>
          </a:prstGeom>
          <a:solidFill>
            <a:srgbClr val="E7F8FB"/>
          </a:solidFill>
          <a:ln w="12700">
            <a:solidFill>
              <a:srgbClr val="8CC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2489200" y="1536700"/>
            <a:ext cx="44450" cy="558800"/>
          </a:xfrm>
          <a:prstGeom prst="roundRect">
            <a:avLst/>
          </a:prstGeom>
          <a:solidFill>
            <a:srgbClr val="09A9C8"/>
          </a:solidFill>
          <a:ln w="6350">
            <a:solidFill>
              <a:srgbClr val="09A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603500" y="1606550"/>
            <a:ext cx="1778000" cy="165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1">
                <a:solidFill>
                  <a:srgbClr val="14213D"/>
                </a:solidFill>
                <a:latin typeface="Microsoft YaHei"/>
              </a:defRPr>
            </a:pPr>
            <a:r>
              <a:t>ActionTransformPipeline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603500" y="1797050"/>
            <a:ext cx="17780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defRPr sz="800" b="0">
                <a:solidFill>
                  <a:srgbClr val="5E6B82"/>
                </a:solidFill>
                <a:latin typeface="Microsoft YaHei"/>
              </a:defRPr>
            </a:pPr>
            <a:r>
              <a:t>resize/pad + action padding</a:t>
            </a:r>
            <a:br/>
            <a:r>
              <a:t>V [3,33,544,736] · A [33,64]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4114800" y="1593850"/>
            <a:ext cx="266700" cy="215900"/>
          </a:xfrm>
          <a:prstGeom prst="roundRect">
            <a:avLst/>
          </a:prstGeom>
          <a:solidFill>
            <a:srgbClr val="09A9C8"/>
          </a:solidFill>
          <a:ln w="6350">
            <a:solidFill>
              <a:srgbClr val="09A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114800" y="1593850"/>
            <a:ext cx="26670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T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4483100" y="1816100"/>
            <a:ext cx="254000" cy="0"/>
          </a:xfrm>
          <a:prstGeom prst="line">
            <a:avLst/>
          </a:prstGeom>
          <a:ln w="25400">
            <a:solidFill>
              <a:srgbClr val="09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Isosceles Triangle 91"/>
          <p:cNvSpPr/>
          <p:nvPr/>
        </p:nvSpPr>
        <p:spPr>
          <a:xfrm rot="5400000">
            <a:off x="4679950" y="1758950"/>
            <a:ext cx="114300" cy="114300"/>
          </a:xfrm>
          <a:prstGeom prst="triangle">
            <a:avLst/>
          </a:prstGeom>
          <a:solidFill>
            <a:srgbClr val="09A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4762500" y="1536700"/>
            <a:ext cx="2400300" cy="558800"/>
          </a:xfrm>
          <a:prstGeom prst="roundRect">
            <a:avLst/>
          </a:prstGeom>
          <a:solidFill>
            <a:srgbClr val="EAF8F1"/>
          </a:solidFill>
          <a:ln w="12700">
            <a:solidFill>
              <a:srgbClr val="90C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4762500" y="1536700"/>
            <a:ext cx="44450" cy="558800"/>
          </a:xfrm>
          <a:prstGeom prst="roundRect">
            <a:avLst/>
          </a:prstGeom>
          <a:solidFill>
            <a:srgbClr val="20A464"/>
          </a:solidFill>
          <a:ln w="6350">
            <a:solidFill>
              <a:srgbClr val="20A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876800" y="1606550"/>
            <a:ext cx="2209800" cy="165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1">
                <a:solidFill>
                  <a:srgbClr val="14213D"/>
                </a:solidFill>
                <a:latin typeface="Microsoft YaHei"/>
              </a:defRPr>
            </a:pPr>
            <a:r>
              <a:t>build_batch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876800" y="1797050"/>
            <a:ext cx="22098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defRPr sz="800" b="0">
                <a:solidFill>
                  <a:srgbClr val="5E6B82"/>
                </a:solidFill>
                <a:latin typeface="Microsoft YaHei"/>
              </a:defRPr>
            </a:pPr>
            <a:r>
              <a:t>增加 batch 维并整理 prompt</a:t>
            </a:r>
            <a:br/>
            <a:r>
              <a:t>V [1,3,33,544,736] · A [1,33,64]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819900" y="1593850"/>
            <a:ext cx="266700" cy="215900"/>
          </a:xfrm>
          <a:prstGeom prst="roundRect">
            <a:avLst/>
          </a:prstGeom>
          <a:solidFill>
            <a:srgbClr val="20A464"/>
          </a:solidFill>
          <a:ln w="6350">
            <a:solidFill>
              <a:srgbClr val="20A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819900" y="1593850"/>
            <a:ext cx="26670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B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533400" y="2260600"/>
            <a:ext cx="6629400" cy="1778000"/>
          </a:xfrm>
          <a:prstGeom prst="roundRect">
            <a:avLst/>
          </a:prstGeom>
          <a:solidFill>
            <a:srgbClr val="F9FBFE"/>
          </a:solidFill>
          <a:ln w="12700">
            <a:solidFill>
              <a:srgbClr val="AFC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635000" y="2355850"/>
            <a:ext cx="1117600" cy="215900"/>
          </a:xfrm>
          <a:prstGeom prst="roundRect">
            <a:avLst/>
          </a:prstGeom>
          <a:solidFill>
            <a:srgbClr val="183B66"/>
          </a:solidFill>
          <a:ln w="6350">
            <a:solidFill>
              <a:srgbClr val="18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35000" y="2355850"/>
            <a:ext cx="111760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prepare_data_total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854200" y="2374900"/>
            <a:ext cx="3175000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900" b="1">
                <a:solidFill>
                  <a:srgbClr val="5E6B82"/>
                </a:solidFill>
                <a:latin typeface="Microsoft YaHei"/>
              </a:defRPr>
            </a:pPr>
            <a:r>
              <a:t>条件编码 · 序列打包 · 扩散初值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85800" y="2730500"/>
            <a:ext cx="1295400" cy="66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685800" y="2730500"/>
            <a:ext cx="44450" cy="660400"/>
          </a:xfrm>
          <a:prstGeom prst="roundRect">
            <a:avLst/>
          </a:prstGeom>
          <a:solidFill>
            <a:srgbClr val="183B66"/>
          </a:solidFill>
          <a:ln w="6350">
            <a:solidFill>
              <a:srgbClr val="18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00100" y="2800350"/>
            <a:ext cx="1104900" cy="165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750" b="1">
                <a:solidFill>
                  <a:srgbClr val="14213D"/>
                </a:solidFill>
                <a:latin typeface="Microsoft YaHei"/>
              </a:defRPr>
            </a:pPr>
            <a:r>
              <a:t>get_data_and_condition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00100" y="2990850"/>
            <a:ext cx="11049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defRPr sz="800" b="0">
                <a:solidFill>
                  <a:srgbClr val="5E6B82"/>
                </a:solidFill>
                <a:latin typeface="Microsoft YaHei"/>
              </a:defRPr>
            </a:pPr>
            <a:r>
              <a:t>读取多视角 video / state</a:t>
            </a:r>
            <a:br/>
            <a:r>
              <a:t>建立条件字典</a:t>
            </a:r>
          </a:p>
        </p:txBody>
      </p:sp>
      <p:cxnSp>
        <p:nvCxnSpPr>
          <p:cNvPr id="107" name="Connector 106"/>
          <p:cNvCxnSpPr/>
          <p:nvPr/>
        </p:nvCxnSpPr>
        <p:spPr>
          <a:xfrm flipV="1">
            <a:off x="1993899" y="2628900"/>
            <a:ext cx="228601" cy="266700"/>
          </a:xfrm>
          <a:prstGeom prst="line">
            <a:avLst/>
          </a:prstGeom>
          <a:ln w="19050">
            <a:solidFill>
              <a:srgbClr val="183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Isosceles Triangle 107"/>
          <p:cNvSpPr/>
          <p:nvPr/>
        </p:nvSpPr>
        <p:spPr>
          <a:xfrm rot="2436078">
            <a:off x="2165350" y="2571750"/>
            <a:ext cx="114300" cy="114300"/>
          </a:xfrm>
          <a:prstGeom prst="triangle">
            <a:avLst/>
          </a:prstGeom>
          <a:solidFill>
            <a:srgbClr val="18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9" name="Connector 108"/>
          <p:cNvCxnSpPr/>
          <p:nvPr/>
        </p:nvCxnSpPr>
        <p:spPr>
          <a:xfrm>
            <a:off x="1993899" y="3206750"/>
            <a:ext cx="228601" cy="311150"/>
          </a:xfrm>
          <a:prstGeom prst="line">
            <a:avLst/>
          </a:prstGeom>
          <a:ln w="19050">
            <a:solidFill>
              <a:srgbClr val="183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Isosceles Triangle 109"/>
          <p:cNvSpPr/>
          <p:nvPr/>
        </p:nvSpPr>
        <p:spPr>
          <a:xfrm rot="8621730">
            <a:off x="2165350" y="3460750"/>
            <a:ext cx="114300" cy="114300"/>
          </a:xfrm>
          <a:prstGeom prst="triangle">
            <a:avLst/>
          </a:prstGeom>
          <a:solidFill>
            <a:srgbClr val="18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2247900" y="2482850"/>
            <a:ext cx="1536700" cy="647700"/>
          </a:xfrm>
          <a:prstGeom prst="roundRect">
            <a:avLst/>
          </a:prstGeom>
          <a:solidFill>
            <a:srgbClr val="E7F8FB"/>
          </a:solidFill>
          <a:ln w="12700">
            <a:solidFill>
              <a:srgbClr val="8CC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2247900" y="2482850"/>
            <a:ext cx="44450" cy="647700"/>
          </a:xfrm>
          <a:prstGeom prst="roundRect">
            <a:avLst/>
          </a:prstGeom>
          <a:solidFill>
            <a:srgbClr val="09A9C8"/>
          </a:solidFill>
          <a:ln w="6350">
            <a:solidFill>
              <a:srgbClr val="09A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2362200" y="2552700"/>
            <a:ext cx="1346200" cy="165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1">
                <a:solidFill>
                  <a:srgbClr val="14213D"/>
                </a:solidFill>
                <a:latin typeface="Microsoft YaHei"/>
              </a:defRPr>
            </a:pPr>
            <a:r>
              <a:t>vae_encode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362200" y="2743200"/>
            <a:ext cx="1346200" cy="330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defRPr sz="800" b="0">
                <a:solidFill>
                  <a:srgbClr val="5E6B82"/>
                </a:solidFill>
                <a:latin typeface="Microsoft YaHei"/>
              </a:defRPr>
            </a:pPr>
            <a:r>
              <a:t>[1,48,9,34,46]</a:t>
            </a:r>
            <a:br/>
            <a:r>
              <a:t>→ crop [1,48,9,33,40]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3441700" y="2540000"/>
            <a:ext cx="266700" cy="215900"/>
          </a:xfrm>
          <a:prstGeom prst="roundRect">
            <a:avLst/>
          </a:prstGeom>
          <a:solidFill>
            <a:srgbClr val="09A9C8"/>
          </a:solidFill>
          <a:ln w="6350">
            <a:solidFill>
              <a:srgbClr val="09A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3441700" y="2540000"/>
            <a:ext cx="26670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VAE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2247900" y="3251200"/>
            <a:ext cx="1536700" cy="520700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8FB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2247900" y="3251200"/>
            <a:ext cx="44450" cy="520700"/>
          </a:xfrm>
          <a:prstGeom prst="roundRect">
            <a:avLst/>
          </a:prstGeom>
          <a:solidFill>
            <a:srgbClr val="1677FF"/>
          </a:solidFill>
          <a:ln w="6350"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2362200" y="3321050"/>
            <a:ext cx="1346200" cy="165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1">
                <a:solidFill>
                  <a:srgbClr val="14213D"/>
                </a:solidFill>
                <a:latin typeface="Microsoft YaHei"/>
              </a:defRPr>
            </a:pPr>
            <a:r>
              <a:t>tokenize_text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362200" y="3511550"/>
            <a:ext cx="13462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defRPr sz="800" b="0">
                <a:solidFill>
                  <a:srgbClr val="5E6B82"/>
                </a:solidFill>
                <a:latin typeface="Microsoft YaHei"/>
              </a:defRPr>
            </a:pPr>
            <a:r>
              <a:t>cond 105→107 · uncond 17→19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3441700" y="3308350"/>
            <a:ext cx="266700" cy="215900"/>
          </a:xfrm>
          <a:prstGeom prst="roundRect">
            <a:avLst/>
          </a:prstGeom>
          <a:solidFill>
            <a:srgbClr val="1677FF"/>
          </a:solidFill>
          <a:ln w="6350"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441700" y="3308350"/>
            <a:ext cx="26670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TXT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3810000" y="2800350"/>
            <a:ext cx="228600" cy="158750"/>
          </a:xfrm>
          <a:prstGeom prst="line">
            <a:avLst/>
          </a:prstGeom>
          <a:ln w="19050">
            <a:solidFill>
              <a:srgbClr val="167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Isosceles Triangle 123"/>
          <p:cNvSpPr/>
          <p:nvPr/>
        </p:nvSpPr>
        <p:spPr>
          <a:xfrm rot="7486670">
            <a:off x="3981450" y="2901950"/>
            <a:ext cx="114300" cy="114300"/>
          </a:xfrm>
          <a:prstGeom prst="triangle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5" name="Connector 124"/>
          <p:cNvCxnSpPr/>
          <p:nvPr/>
        </p:nvCxnSpPr>
        <p:spPr>
          <a:xfrm flipV="1">
            <a:off x="3810000" y="3333750"/>
            <a:ext cx="228600" cy="222250"/>
          </a:xfrm>
          <a:prstGeom prst="line">
            <a:avLst/>
          </a:prstGeom>
          <a:ln w="19050">
            <a:solidFill>
              <a:srgbClr val="167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Isosceles Triangle 125"/>
          <p:cNvSpPr/>
          <p:nvPr/>
        </p:nvSpPr>
        <p:spPr>
          <a:xfrm rot="2748416">
            <a:off x="3981450" y="3276600"/>
            <a:ext cx="114300" cy="114300"/>
          </a:xfrm>
          <a:prstGeom prst="triangle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ounded Rectangle 126"/>
          <p:cNvSpPr/>
          <p:nvPr/>
        </p:nvSpPr>
        <p:spPr>
          <a:xfrm>
            <a:off x="4064000" y="2730500"/>
            <a:ext cx="1473200" cy="736600"/>
          </a:xfrm>
          <a:prstGeom prst="roundRect">
            <a:avLst/>
          </a:prstGeom>
          <a:solidFill>
            <a:srgbClr val="FFF5E4"/>
          </a:solidFill>
          <a:ln w="12700">
            <a:solidFill>
              <a:srgbClr val="EDC8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4064000" y="2730500"/>
            <a:ext cx="44450" cy="736600"/>
          </a:xfrm>
          <a:prstGeom prst="roundRect">
            <a:avLst/>
          </a:prstGeom>
          <a:solidFill>
            <a:srgbClr val="E69A24"/>
          </a:solidFill>
          <a:ln w="6350">
            <a:solidFill>
              <a:srgbClr val="E69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4178300" y="2800350"/>
            <a:ext cx="1282700" cy="165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1">
                <a:solidFill>
                  <a:srgbClr val="14213D"/>
                </a:solidFill>
                <a:latin typeface="Microsoft YaHei"/>
              </a:defRPr>
            </a:pPr>
            <a:r>
              <a:t>initial_pack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178300" y="2990850"/>
            <a:ext cx="12827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defRPr sz="800" b="0">
                <a:solidFill>
                  <a:srgbClr val="5E6B82"/>
                </a:solidFill>
                <a:latin typeface="Microsoft YaHei"/>
              </a:defRPr>
            </a:pPr>
            <a:r>
              <a:t>vision 3060 + action 33</a:t>
            </a:r>
            <a:br/>
            <a:r>
              <a:t>cond L=3200 · uncond L=3112</a:t>
            </a:r>
            <a:br/>
            <a:r>
              <a:t>hidden = 2048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5194300" y="2787650"/>
            <a:ext cx="266700" cy="215900"/>
          </a:xfrm>
          <a:prstGeom prst="roundRect">
            <a:avLst/>
          </a:prstGeom>
          <a:solidFill>
            <a:srgbClr val="E69A24"/>
          </a:solidFill>
          <a:ln w="6350">
            <a:solidFill>
              <a:srgbClr val="E69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5194300" y="2787650"/>
            <a:ext cx="26670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PACK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5689600" y="2730500"/>
            <a:ext cx="1320800" cy="736600"/>
          </a:xfrm>
          <a:prstGeom prst="roundRect">
            <a:avLst/>
          </a:prstGeom>
          <a:solidFill>
            <a:srgbClr val="FDECEF"/>
          </a:solidFill>
          <a:ln w="12700">
            <a:solidFill>
              <a:srgbClr val="E9A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ounded Rectangle 133"/>
          <p:cNvSpPr/>
          <p:nvPr/>
        </p:nvSpPr>
        <p:spPr>
          <a:xfrm>
            <a:off x="5689600" y="2730500"/>
            <a:ext cx="44450" cy="736600"/>
          </a:xfrm>
          <a:prstGeom prst="roundRect">
            <a:avLst/>
          </a:prstGeom>
          <a:solidFill>
            <a:srgbClr val="D94A5A"/>
          </a:solidFill>
          <a:ln w="6350">
            <a:solidFill>
              <a:srgbClr val="D94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5803900" y="2800350"/>
            <a:ext cx="1130300" cy="165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1">
                <a:solidFill>
                  <a:srgbClr val="14213D"/>
                </a:solidFill>
                <a:latin typeface="Microsoft YaHei"/>
              </a:defRPr>
            </a:pPr>
            <a:r>
              <a:t>initialize noise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803900" y="2990850"/>
            <a:ext cx="11303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defRPr sz="800" b="0">
                <a:solidFill>
                  <a:srgbClr val="5E6B82"/>
                </a:solidFill>
                <a:latin typeface="Microsoft YaHei"/>
              </a:defRPr>
            </a:pPr>
            <a:r>
              <a:t>V 570,240 + A 2,112</a:t>
            </a:r>
            <a:br/>
            <a:r>
              <a:t>timestep: V 2720 / A 32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6667500" y="2787650"/>
            <a:ext cx="266700" cy="215900"/>
          </a:xfrm>
          <a:prstGeom prst="roundRect">
            <a:avLst/>
          </a:prstGeom>
          <a:solidFill>
            <a:srgbClr val="D94A5A"/>
          </a:solidFill>
          <a:ln w="6350">
            <a:solidFill>
              <a:srgbClr val="D94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667500" y="2787650"/>
            <a:ext cx="26670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ε</a:t>
            </a:r>
          </a:p>
        </p:txBody>
      </p:sp>
      <p:cxnSp>
        <p:nvCxnSpPr>
          <p:cNvPr id="139" name="Connector 138"/>
          <p:cNvCxnSpPr/>
          <p:nvPr/>
        </p:nvCxnSpPr>
        <p:spPr>
          <a:xfrm>
            <a:off x="5549900" y="3098800"/>
            <a:ext cx="114300" cy="0"/>
          </a:xfrm>
          <a:prstGeom prst="line">
            <a:avLst/>
          </a:prstGeom>
          <a:ln w="19050">
            <a:solidFill>
              <a:srgbClr val="E69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Isosceles Triangle 139"/>
          <p:cNvSpPr/>
          <p:nvPr/>
        </p:nvSpPr>
        <p:spPr>
          <a:xfrm rot="5400000">
            <a:off x="5607050" y="3041650"/>
            <a:ext cx="114300" cy="114300"/>
          </a:xfrm>
          <a:prstGeom prst="triangle">
            <a:avLst/>
          </a:prstGeom>
          <a:solidFill>
            <a:srgbClr val="E69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47700" y="3848099"/>
            <a:ext cx="6248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800" b="1">
                <a:solidFill>
                  <a:srgbClr val="183B66"/>
                </a:solidFill>
                <a:latin typeface="Microsoft YaHei"/>
              </a:defRPr>
            </a:pPr>
            <a:r>
              <a:t>关键：文本/视觉/动作被打成一个 packed sequence；条件与无条件 token 长度不同。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533400" y="4165600"/>
            <a:ext cx="6629400" cy="1511300"/>
          </a:xfrm>
          <a:prstGeom prst="roundRect">
            <a:avLst/>
          </a:prstGeom>
          <a:solidFill>
            <a:srgbClr val="F9FBFE"/>
          </a:solidFill>
          <a:ln w="12700">
            <a:solidFill>
              <a:srgbClr val="AFC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ounded Rectangle 142"/>
          <p:cNvSpPr/>
          <p:nvPr/>
        </p:nvSpPr>
        <p:spPr>
          <a:xfrm>
            <a:off x="635000" y="4260850"/>
            <a:ext cx="901700" cy="215900"/>
          </a:xfrm>
          <a:prstGeom prst="roundRect">
            <a:avLst/>
          </a:prstGeom>
          <a:solidFill>
            <a:srgbClr val="183B66"/>
          </a:solidFill>
          <a:ln w="6350">
            <a:solidFill>
              <a:srgbClr val="18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35000" y="4260850"/>
            <a:ext cx="90170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sampler_total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6007100" y="4260850"/>
            <a:ext cx="1003300" cy="215900"/>
          </a:xfrm>
          <a:prstGeom prst="roundRect">
            <a:avLst/>
          </a:prstGeom>
          <a:solidFill>
            <a:srgbClr val="20A464"/>
          </a:solidFill>
          <a:ln w="6350">
            <a:solidFill>
              <a:srgbClr val="20A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007100" y="4260850"/>
            <a:ext cx="100330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UniPC × 4 steps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651000" y="4279900"/>
            <a:ext cx="3937000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900" b="1">
                <a:solidFill>
                  <a:srgbClr val="5E6B82"/>
                </a:solidFill>
                <a:latin typeface="Microsoft YaHei"/>
              </a:defRPr>
            </a:pPr>
            <a:r>
              <a:t>双分支去噪 → CFG 合流 → latent 更新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698500" y="4546600"/>
            <a:ext cx="2006600" cy="431800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8FB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ounded Rectangle 148"/>
          <p:cNvSpPr/>
          <p:nvPr/>
        </p:nvSpPr>
        <p:spPr>
          <a:xfrm>
            <a:off x="698500" y="4546600"/>
            <a:ext cx="44450" cy="431800"/>
          </a:xfrm>
          <a:prstGeom prst="roundRect">
            <a:avLst/>
          </a:prstGeom>
          <a:solidFill>
            <a:srgbClr val="1677FF"/>
          </a:solidFill>
          <a:ln w="6350"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812800" y="4616450"/>
            <a:ext cx="1816100" cy="165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1">
                <a:solidFill>
                  <a:srgbClr val="14213D"/>
                </a:solidFill>
                <a:latin typeface="Microsoft YaHei"/>
              </a:defRPr>
            </a:pPr>
            <a:r>
              <a:t>conditional_forward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12800" y="4806950"/>
            <a:ext cx="18161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defRPr sz="800" b="0">
                <a:solidFill>
                  <a:srgbClr val="5E6B82"/>
                </a:solidFill>
                <a:latin typeface="Microsoft YaHei"/>
              </a:defRPr>
            </a:pPr>
            <a:r>
              <a:t>L=3200 → V̇ [1,48,9,33,40] · Ȧ [33,64]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698500" y="5080000"/>
            <a:ext cx="2006600" cy="419100"/>
          </a:xfrm>
          <a:prstGeom prst="roundRect">
            <a:avLst/>
          </a:prstGeom>
          <a:solidFill>
            <a:srgbClr val="EDF2F8"/>
          </a:solidFill>
          <a:ln w="12700">
            <a:solidFill>
              <a:srgbClr val="AFC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ounded Rectangle 152"/>
          <p:cNvSpPr/>
          <p:nvPr/>
        </p:nvSpPr>
        <p:spPr>
          <a:xfrm>
            <a:off x="698500" y="5080000"/>
            <a:ext cx="44450" cy="419100"/>
          </a:xfrm>
          <a:prstGeom prst="roundRect">
            <a:avLst/>
          </a:prstGeom>
          <a:solidFill>
            <a:srgbClr val="183B66"/>
          </a:solidFill>
          <a:ln w="6350">
            <a:solidFill>
              <a:srgbClr val="18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812800" y="5149850"/>
            <a:ext cx="1816100" cy="165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1">
                <a:solidFill>
                  <a:srgbClr val="14213D"/>
                </a:solidFill>
                <a:latin typeface="Microsoft YaHei"/>
              </a:defRPr>
            </a:pPr>
            <a:r>
              <a:t>unconditional_forward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12800" y="5340350"/>
            <a:ext cx="1816100" cy="10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defRPr sz="800" b="0">
                <a:solidFill>
                  <a:srgbClr val="5E6B82"/>
                </a:solidFill>
                <a:latin typeface="Microsoft YaHei"/>
              </a:defRPr>
            </a:pPr>
            <a:r>
              <a:t>L=3112 · 仅 guidance ≠ 1 启用</a:t>
            </a:r>
          </a:p>
        </p:txBody>
      </p:sp>
      <p:cxnSp>
        <p:nvCxnSpPr>
          <p:cNvPr id="156" name="Connector 155"/>
          <p:cNvCxnSpPr/>
          <p:nvPr/>
        </p:nvCxnSpPr>
        <p:spPr>
          <a:xfrm>
            <a:off x="2730500" y="4762500"/>
            <a:ext cx="444500" cy="88900"/>
          </a:xfrm>
          <a:prstGeom prst="line">
            <a:avLst/>
          </a:prstGeom>
          <a:ln w="19050">
            <a:solidFill>
              <a:srgbClr val="167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Isosceles Triangle 156"/>
          <p:cNvSpPr/>
          <p:nvPr/>
        </p:nvSpPr>
        <p:spPr>
          <a:xfrm rot="6078596">
            <a:off x="3117850" y="4794250"/>
            <a:ext cx="114300" cy="114300"/>
          </a:xfrm>
          <a:prstGeom prst="triangle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8" name="Connector 157"/>
          <p:cNvCxnSpPr/>
          <p:nvPr/>
        </p:nvCxnSpPr>
        <p:spPr>
          <a:xfrm flipV="1">
            <a:off x="2730500" y="5105400"/>
            <a:ext cx="444500" cy="184150"/>
          </a:xfrm>
          <a:prstGeom prst="line">
            <a:avLst/>
          </a:prstGeom>
          <a:ln w="19050">
            <a:solidFill>
              <a:srgbClr val="183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Isosceles Triangle 158"/>
          <p:cNvSpPr/>
          <p:nvPr/>
        </p:nvSpPr>
        <p:spPr>
          <a:xfrm rot="4049788">
            <a:off x="3117850" y="5048250"/>
            <a:ext cx="114300" cy="114300"/>
          </a:xfrm>
          <a:prstGeom prst="triangle">
            <a:avLst/>
          </a:prstGeom>
          <a:solidFill>
            <a:srgbClr val="18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Diamond 159"/>
          <p:cNvSpPr/>
          <p:nvPr/>
        </p:nvSpPr>
        <p:spPr>
          <a:xfrm>
            <a:off x="3200400" y="4635500"/>
            <a:ext cx="965200" cy="635000"/>
          </a:xfrm>
          <a:prstGeom prst="diamond">
            <a:avLst/>
          </a:prstGeom>
          <a:solidFill>
            <a:srgbClr val="FFF5E4"/>
          </a:solidFill>
          <a:ln w="15240">
            <a:solidFill>
              <a:srgbClr val="E69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3282950" y="4749800"/>
            <a:ext cx="800100" cy="406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800" b="1">
                <a:solidFill>
                  <a:srgbClr val="14213D"/>
                </a:solidFill>
                <a:latin typeface="Microsoft YaHei"/>
              </a:defRPr>
            </a:pPr>
            <a:r>
              <a:t>CFG velocity</a:t>
            </a:r>
            <a:br/>
            <a:r>
              <a:t>v_u + 3(v_c−v_u)</a:t>
            </a:r>
          </a:p>
        </p:txBody>
      </p:sp>
      <p:cxnSp>
        <p:nvCxnSpPr>
          <p:cNvPr id="162" name="Connector 161"/>
          <p:cNvCxnSpPr/>
          <p:nvPr/>
        </p:nvCxnSpPr>
        <p:spPr>
          <a:xfrm>
            <a:off x="4190999" y="4946650"/>
            <a:ext cx="279401" cy="0"/>
          </a:xfrm>
          <a:prstGeom prst="line">
            <a:avLst/>
          </a:prstGeom>
          <a:ln w="19050">
            <a:solidFill>
              <a:srgbClr val="E69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Isosceles Triangle 162"/>
          <p:cNvSpPr/>
          <p:nvPr/>
        </p:nvSpPr>
        <p:spPr>
          <a:xfrm rot="5400000">
            <a:off x="4413250" y="4889500"/>
            <a:ext cx="114300" cy="114300"/>
          </a:xfrm>
          <a:prstGeom prst="triangle">
            <a:avLst/>
          </a:prstGeom>
          <a:solidFill>
            <a:srgbClr val="E69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ounded Rectangle 163"/>
          <p:cNvSpPr/>
          <p:nvPr/>
        </p:nvSpPr>
        <p:spPr>
          <a:xfrm>
            <a:off x="4495800" y="4597400"/>
            <a:ext cx="2413000" cy="698500"/>
          </a:xfrm>
          <a:prstGeom prst="roundRect">
            <a:avLst/>
          </a:prstGeom>
          <a:solidFill>
            <a:srgbClr val="EAF8F1"/>
          </a:solidFill>
          <a:ln w="12700">
            <a:solidFill>
              <a:srgbClr val="90C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ounded Rectangle 164"/>
          <p:cNvSpPr/>
          <p:nvPr/>
        </p:nvSpPr>
        <p:spPr>
          <a:xfrm>
            <a:off x="4495800" y="4597400"/>
            <a:ext cx="44450" cy="698500"/>
          </a:xfrm>
          <a:prstGeom prst="roundRect">
            <a:avLst/>
          </a:prstGeom>
          <a:solidFill>
            <a:srgbClr val="20A464"/>
          </a:solidFill>
          <a:ln w="6350">
            <a:solidFill>
              <a:srgbClr val="20A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4610100" y="4667250"/>
            <a:ext cx="2222500" cy="165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1">
                <a:solidFill>
                  <a:srgbClr val="14213D"/>
                </a:solidFill>
                <a:latin typeface="Microsoft YaHei"/>
              </a:defRPr>
            </a:pPr>
            <a:r>
              <a:t>latent update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4610100" y="4857750"/>
            <a:ext cx="22225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defRPr sz="800" b="0">
                <a:solidFill>
                  <a:srgbClr val="5E6B82"/>
                </a:solidFill>
                <a:latin typeface="Microsoft YaHei"/>
              </a:defRPr>
            </a:pPr>
            <a:r>
              <a:t>UniPC 更新 vision/action noise</a:t>
            </a:r>
            <a:br/>
            <a:r>
              <a:t>循环进入下一 timestep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6565900" y="4654550"/>
            <a:ext cx="266700" cy="215900"/>
          </a:xfrm>
          <a:prstGeom prst="roundRect">
            <a:avLst/>
          </a:prstGeom>
          <a:solidFill>
            <a:srgbClr val="20A464"/>
          </a:solidFill>
          <a:ln w="6350">
            <a:solidFill>
              <a:srgbClr val="20A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565900" y="4654550"/>
            <a:ext cx="26670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LOOP</a:t>
            </a:r>
          </a:p>
        </p:txBody>
      </p:sp>
      <p:cxnSp>
        <p:nvCxnSpPr>
          <p:cNvPr id="170" name="Connector 169"/>
          <p:cNvCxnSpPr/>
          <p:nvPr/>
        </p:nvCxnSpPr>
        <p:spPr>
          <a:xfrm>
            <a:off x="5702300" y="5321300"/>
            <a:ext cx="0" cy="241300"/>
          </a:xfrm>
          <a:prstGeom prst="line">
            <a:avLst/>
          </a:prstGeom>
          <a:ln w="19050">
            <a:solidFill>
              <a:srgbClr val="20A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H="1">
            <a:off x="609600" y="5562600"/>
            <a:ext cx="5092700" cy="0"/>
          </a:xfrm>
          <a:prstGeom prst="line">
            <a:avLst/>
          </a:prstGeom>
          <a:ln w="19050">
            <a:solidFill>
              <a:srgbClr val="20A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609600" y="4762500"/>
            <a:ext cx="0" cy="800100"/>
          </a:xfrm>
          <a:prstGeom prst="line">
            <a:avLst/>
          </a:prstGeom>
          <a:ln w="19050">
            <a:solidFill>
              <a:srgbClr val="20A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609600" y="4762500"/>
            <a:ext cx="63500" cy="0"/>
          </a:xfrm>
          <a:prstGeom prst="line">
            <a:avLst/>
          </a:prstGeom>
          <a:ln w="19050">
            <a:solidFill>
              <a:srgbClr val="20A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Isosceles Triangle 173"/>
          <p:cNvSpPr/>
          <p:nvPr/>
        </p:nvSpPr>
        <p:spPr>
          <a:xfrm rot="5400000">
            <a:off x="615950" y="4705350"/>
            <a:ext cx="114300" cy="114300"/>
          </a:xfrm>
          <a:prstGeom prst="triangle">
            <a:avLst/>
          </a:prstGeom>
          <a:solidFill>
            <a:srgbClr val="20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2889250" y="5384800"/>
            <a:ext cx="2095499" cy="139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750" b="1">
                <a:solidFill>
                  <a:srgbClr val="20A464"/>
                </a:solidFill>
                <a:latin typeface="Microsoft YaHei"/>
              </a:defRPr>
            </a:pPr>
            <a:r>
              <a:t>4 steps × 2 branches = 8 次 MoT forward</a:t>
            </a:r>
          </a:p>
        </p:txBody>
      </p:sp>
      <p:cxnSp>
        <p:nvCxnSpPr>
          <p:cNvPr id="176" name="Connector 175"/>
          <p:cNvCxnSpPr/>
          <p:nvPr/>
        </p:nvCxnSpPr>
        <p:spPr>
          <a:xfrm>
            <a:off x="2095499" y="5689600"/>
            <a:ext cx="0" cy="127000"/>
          </a:xfrm>
          <a:prstGeom prst="line">
            <a:avLst/>
          </a:prstGeom>
          <a:ln w="19050">
            <a:solidFill>
              <a:srgbClr val="20A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Isosceles Triangle 176"/>
          <p:cNvSpPr/>
          <p:nvPr/>
        </p:nvSpPr>
        <p:spPr>
          <a:xfrm rot="10800000">
            <a:off x="2038349" y="5759450"/>
            <a:ext cx="114300" cy="114300"/>
          </a:xfrm>
          <a:prstGeom prst="triangle">
            <a:avLst/>
          </a:prstGeom>
          <a:solidFill>
            <a:srgbClr val="20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ounded Rectangle 177"/>
          <p:cNvSpPr/>
          <p:nvPr/>
        </p:nvSpPr>
        <p:spPr>
          <a:xfrm>
            <a:off x="685800" y="5829300"/>
            <a:ext cx="2806700" cy="495299"/>
          </a:xfrm>
          <a:prstGeom prst="roundRect">
            <a:avLst/>
          </a:prstGeom>
          <a:solidFill>
            <a:srgbClr val="EAF8F1"/>
          </a:solidFill>
          <a:ln w="12700">
            <a:solidFill>
              <a:srgbClr val="90C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ounded Rectangle 178"/>
          <p:cNvSpPr/>
          <p:nvPr/>
        </p:nvSpPr>
        <p:spPr>
          <a:xfrm>
            <a:off x="685800" y="5829300"/>
            <a:ext cx="44450" cy="495299"/>
          </a:xfrm>
          <a:prstGeom prst="roundRect">
            <a:avLst/>
          </a:prstGeom>
          <a:solidFill>
            <a:srgbClr val="20A464"/>
          </a:solidFill>
          <a:ln w="6350">
            <a:solidFill>
              <a:srgbClr val="20A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800100" y="5899150"/>
            <a:ext cx="2616200" cy="165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1">
                <a:solidFill>
                  <a:srgbClr val="14213D"/>
                </a:solidFill>
                <a:latin typeface="Microsoft YaHei"/>
              </a:defRPr>
            </a:pPr>
            <a:r>
              <a:t>action_postprocess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800100" y="6089650"/>
            <a:ext cx="2616200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defRPr sz="800" b="0">
                <a:solidFill>
                  <a:srgbClr val="5E6B82"/>
                </a:solidFill>
                <a:latin typeface="Microsoft YaHei"/>
              </a:defRPr>
            </a:pPr>
            <a:r>
              <a:t>[33,64] → [33,8] → drop state row → [32,8]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3149600" y="5886450"/>
            <a:ext cx="266700" cy="215900"/>
          </a:xfrm>
          <a:prstGeom prst="roundRect">
            <a:avLst/>
          </a:prstGeom>
          <a:solidFill>
            <a:srgbClr val="20A464"/>
          </a:solidFill>
          <a:ln w="6350">
            <a:solidFill>
              <a:srgbClr val="20A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3149600" y="5886450"/>
            <a:ext cx="26670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OUT</a:t>
            </a:r>
          </a:p>
        </p:txBody>
      </p:sp>
      <p:cxnSp>
        <p:nvCxnSpPr>
          <p:cNvPr id="184" name="Connector 183"/>
          <p:cNvCxnSpPr/>
          <p:nvPr/>
        </p:nvCxnSpPr>
        <p:spPr>
          <a:xfrm>
            <a:off x="3517900" y="6076950"/>
            <a:ext cx="317500" cy="0"/>
          </a:xfrm>
          <a:prstGeom prst="line">
            <a:avLst/>
          </a:prstGeom>
          <a:ln w="25400">
            <a:solidFill>
              <a:srgbClr val="20A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Isosceles Triangle 184"/>
          <p:cNvSpPr/>
          <p:nvPr/>
        </p:nvSpPr>
        <p:spPr>
          <a:xfrm rot="5400000">
            <a:off x="3778250" y="6019800"/>
            <a:ext cx="114300" cy="114300"/>
          </a:xfrm>
          <a:prstGeom prst="triangle">
            <a:avLst/>
          </a:prstGeom>
          <a:solidFill>
            <a:srgbClr val="20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ounded Rectangle 185"/>
          <p:cNvSpPr/>
          <p:nvPr/>
        </p:nvSpPr>
        <p:spPr>
          <a:xfrm>
            <a:off x="3860800" y="5892800"/>
            <a:ext cx="1257300" cy="368300"/>
          </a:xfrm>
          <a:prstGeom prst="roundRect">
            <a:avLst/>
          </a:prstGeom>
          <a:solidFill>
            <a:srgbClr val="20A464"/>
          </a:solidFill>
          <a:ln w="6350">
            <a:solidFill>
              <a:srgbClr val="20A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3860800" y="5892800"/>
            <a:ext cx="1257300" cy="368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950" b="1">
                <a:solidFill>
                  <a:srgbClr val="FFFFFF"/>
                </a:solidFill>
                <a:latin typeface="Microsoft YaHei"/>
              </a:defRPr>
            </a:pPr>
            <a:r>
              <a:t>robot action</a:t>
            </a:r>
            <a:br/>
            <a:r>
              <a:t>[32, 8]</a:t>
            </a:r>
          </a:p>
        </p:txBody>
      </p:sp>
      <p:cxnSp>
        <p:nvCxnSpPr>
          <p:cNvPr id="188" name="Connector 187"/>
          <p:cNvCxnSpPr/>
          <p:nvPr/>
        </p:nvCxnSpPr>
        <p:spPr>
          <a:xfrm>
            <a:off x="5664200" y="5689600"/>
            <a:ext cx="0" cy="165100"/>
          </a:xfrm>
          <a:prstGeom prst="line">
            <a:avLst/>
          </a:prstGeom>
          <a:ln w="19050">
            <a:solidFill>
              <a:srgbClr val="09A9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Isosceles Triangle 188"/>
          <p:cNvSpPr/>
          <p:nvPr/>
        </p:nvSpPr>
        <p:spPr>
          <a:xfrm rot="10800000">
            <a:off x="5607050" y="5797550"/>
            <a:ext cx="114300" cy="114300"/>
          </a:xfrm>
          <a:prstGeom prst="triangle">
            <a:avLst/>
          </a:prstGeom>
          <a:solidFill>
            <a:srgbClr val="09A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ounded Rectangle 189"/>
          <p:cNvSpPr/>
          <p:nvPr/>
        </p:nvSpPr>
        <p:spPr>
          <a:xfrm>
            <a:off x="5232400" y="5867400"/>
            <a:ext cx="1778000" cy="44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CC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ounded Rectangle 190"/>
          <p:cNvSpPr/>
          <p:nvPr/>
        </p:nvSpPr>
        <p:spPr>
          <a:xfrm>
            <a:off x="5232400" y="5867400"/>
            <a:ext cx="44450" cy="444500"/>
          </a:xfrm>
          <a:prstGeom prst="roundRect">
            <a:avLst/>
          </a:prstGeom>
          <a:solidFill>
            <a:srgbClr val="09A9C8"/>
          </a:solidFill>
          <a:ln w="6350">
            <a:solidFill>
              <a:srgbClr val="09A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5346700" y="5937250"/>
            <a:ext cx="1587500" cy="165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1">
                <a:solidFill>
                  <a:srgbClr val="14213D"/>
                </a:solidFill>
                <a:latin typeface="Microsoft YaHei"/>
              </a:defRPr>
            </a:pPr>
            <a:r>
              <a:t>vae_decode（可选）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5346700" y="6127750"/>
            <a:ext cx="1587500" cy="127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defRPr sz="800" b="0">
                <a:solidFill>
                  <a:srgbClr val="5E6B82"/>
                </a:solidFill>
                <a:latin typeface="Microsoft YaHei"/>
              </a:defRPr>
            </a:pPr>
            <a:r>
              <a:t>仅 --decode-video；Edge 实测未记录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6667500" y="5924550"/>
            <a:ext cx="266700" cy="215900"/>
          </a:xfrm>
          <a:prstGeom prst="roundRect">
            <a:avLst/>
          </a:prstGeom>
          <a:solidFill>
            <a:srgbClr val="09A9C8"/>
          </a:solidFill>
          <a:ln w="6350">
            <a:solidFill>
              <a:srgbClr val="09A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6667500" y="5924550"/>
            <a:ext cx="26670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OPT</a:t>
            </a:r>
          </a:p>
        </p:txBody>
      </p:sp>
      <p:sp>
        <p:nvSpPr>
          <p:cNvPr id="196" name="Rounded Rectangle 195"/>
          <p:cNvSpPr/>
          <p:nvPr/>
        </p:nvSpPr>
        <p:spPr>
          <a:xfrm>
            <a:off x="7670800" y="1054100"/>
            <a:ext cx="4165600" cy="2679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ounded Rectangle 196"/>
          <p:cNvSpPr/>
          <p:nvPr/>
        </p:nvSpPr>
        <p:spPr>
          <a:xfrm>
            <a:off x="7823200" y="1193800"/>
            <a:ext cx="279400" cy="215900"/>
          </a:xfrm>
          <a:prstGeom prst="roundRect">
            <a:avLst/>
          </a:prstGeom>
          <a:solidFill>
            <a:srgbClr val="E69A24"/>
          </a:solidFill>
          <a:ln w="6350">
            <a:solidFill>
              <a:srgbClr val="E69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7823200" y="1193800"/>
            <a:ext cx="27940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8191500" y="1155700"/>
            <a:ext cx="31750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350" b="1">
                <a:solidFill>
                  <a:srgbClr val="14213D"/>
                </a:solidFill>
                <a:latin typeface="Microsoft YaHei"/>
              </a:defRPr>
            </a:pPr>
            <a:r>
              <a:t>参数与计算结构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7823200" y="1454150"/>
            <a:ext cx="3848099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750" b="0">
                <a:solidFill>
                  <a:srgbClr val="5E6B82"/>
                </a:solidFill>
                <a:latin typeface="Microsoft YaHei"/>
              </a:defRPr>
            </a:pPr>
            <a:r>
              <a:t>采用官方口径；FLOPs 未统一披露，以 denoiser 次数作复杂度 proxy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7823200" y="1714500"/>
            <a:ext cx="952500" cy="279400"/>
          </a:xfrm>
          <a:prstGeom prst="rect">
            <a:avLst/>
          </a:prstGeom>
          <a:solidFill>
            <a:srgbClr val="183B66"/>
          </a:solidFill>
          <a:ln w="6350">
            <a:solidFill>
              <a:srgbClr val="18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7854950" y="1714500"/>
            <a:ext cx="889000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750" b="1">
                <a:solidFill>
                  <a:srgbClr val="FFFFFF"/>
                </a:solidFill>
                <a:latin typeface="Microsoft YaHei"/>
              </a:defRPr>
            </a:pPr>
            <a:r>
              <a:t>指标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8775700" y="1714500"/>
            <a:ext cx="927100" cy="279400"/>
          </a:xfrm>
          <a:prstGeom prst="rect">
            <a:avLst/>
          </a:prstGeom>
          <a:solidFill>
            <a:srgbClr val="1677FF"/>
          </a:solidFill>
          <a:ln w="6350"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8807450" y="1714500"/>
            <a:ext cx="863600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750" b="1">
                <a:solidFill>
                  <a:srgbClr val="FFFFFF"/>
                </a:solidFill>
                <a:latin typeface="Microsoft YaHei"/>
              </a:defRPr>
            </a:pPr>
            <a:r>
              <a:t>Cosmos3 Edge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9702800" y="1714500"/>
            <a:ext cx="927100" cy="279400"/>
          </a:xfrm>
          <a:prstGeom prst="rect">
            <a:avLst/>
          </a:prstGeom>
          <a:solidFill>
            <a:srgbClr val="09A9C8"/>
          </a:solidFill>
          <a:ln w="6350">
            <a:solidFill>
              <a:srgbClr val="09A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9734550" y="1714500"/>
            <a:ext cx="863600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750" b="1">
                <a:solidFill>
                  <a:srgbClr val="FFFFFF"/>
                </a:solidFill>
                <a:latin typeface="Microsoft YaHei"/>
              </a:defRPr>
            </a:pPr>
            <a:r>
              <a:t>Cosmos3 Nano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10629900" y="1714500"/>
            <a:ext cx="1054100" cy="279400"/>
          </a:xfrm>
          <a:prstGeom prst="rect">
            <a:avLst/>
          </a:prstGeom>
          <a:solidFill>
            <a:srgbClr val="20A464"/>
          </a:solidFill>
          <a:ln w="6350">
            <a:solidFill>
              <a:srgbClr val="20A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10661650" y="1714500"/>
            <a:ext cx="990599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750" b="1">
                <a:solidFill>
                  <a:srgbClr val="FFFFFF"/>
                </a:solidFill>
                <a:latin typeface="Microsoft YaHei"/>
              </a:defRPr>
            </a:pPr>
            <a:r>
              <a:t>LingBot-VA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7823200" y="1993899"/>
            <a:ext cx="952500" cy="311150"/>
          </a:xfrm>
          <a:prstGeom prst="rect">
            <a:avLst/>
          </a:prstGeom>
          <a:solidFill>
            <a:srgbClr val="EDF2F8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7861299" y="1993899"/>
            <a:ext cx="876300" cy="311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750" b="1">
                <a:solidFill>
                  <a:srgbClr val="14213D"/>
                </a:solidFill>
                <a:latin typeface="Microsoft YaHei"/>
              </a:defRPr>
            </a:pPr>
            <a:r>
              <a:t>总参 / 激活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8775700" y="1993899"/>
            <a:ext cx="927100" cy="311150"/>
          </a:xfrm>
          <a:prstGeom prst="rect">
            <a:avLst/>
          </a:prstGeom>
          <a:solidFill>
            <a:srgbClr val="F6F9FD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8813800" y="1993899"/>
            <a:ext cx="850900" cy="311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700" b="0">
                <a:solidFill>
                  <a:srgbClr val="5E6B82"/>
                </a:solidFill>
                <a:latin typeface="Microsoft YaHei"/>
              </a:defRPr>
            </a:pPr>
            <a:r>
              <a:t>4B / dense 2B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9702800" y="1993899"/>
            <a:ext cx="927100" cy="311150"/>
          </a:xfrm>
          <a:prstGeom prst="rect">
            <a:avLst/>
          </a:prstGeom>
          <a:solidFill>
            <a:srgbClr val="F6F9FD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9740900" y="1993899"/>
            <a:ext cx="850900" cy="311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700" b="0">
                <a:solidFill>
                  <a:srgbClr val="5E6B82"/>
                </a:solidFill>
                <a:latin typeface="Microsoft YaHei"/>
              </a:defRPr>
            </a:pPr>
            <a:r>
              <a:t>16B / dense 8B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10629900" y="1993899"/>
            <a:ext cx="1054100" cy="311150"/>
          </a:xfrm>
          <a:prstGeom prst="rect">
            <a:avLst/>
          </a:prstGeom>
          <a:solidFill>
            <a:srgbClr val="F6F9FD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10668000" y="1993899"/>
            <a:ext cx="977900" cy="311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700" b="0">
                <a:solidFill>
                  <a:srgbClr val="5E6B82"/>
                </a:solidFill>
                <a:latin typeface="Microsoft YaHei"/>
              </a:defRPr>
            </a:pPr>
            <a:r>
              <a:t>5.3B</a:t>
            </a:r>
            <a:br/>
            <a:r>
              <a:t>(5B+~350M)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7823200" y="2305050"/>
            <a:ext cx="952500" cy="311150"/>
          </a:xfrm>
          <a:prstGeom prst="rect">
            <a:avLst/>
          </a:prstGeom>
          <a:solidFill>
            <a:srgbClr val="EDF2F8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7861299" y="2305050"/>
            <a:ext cx="876300" cy="311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750" b="1">
                <a:solidFill>
                  <a:srgbClr val="14213D"/>
                </a:solidFill>
                <a:latin typeface="Microsoft YaHei"/>
              </a:defRPr>
            </a:pPr>
            <a:r>
              <a:t>层数 · hidden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8775700" y="2305050"/>
            <a:ext cx="927100" cy="31115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8813800" y="2305050"/>
            <a:ext cx="850900" cy="311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700" b="0">
                <a:solidFill>
                  <a:srgbClr val="5E6B82"/>
                </a:solidFill>
                <a:latin typeface="Microsoft YaHei"/>
              </a:defRPr>
            </a:pPr>
            <a:r>
              <a:t>28 · 2048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9702800" y="2305050"/>
            <a:ext cx="927100" cy="31115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9740900" y="2305050"/>
            <a:ext cx="850900" cy="311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700" b="0">
                <a:solidFill>
                  <a:srgbClr val="5E6B82"/>
                </a:solidFill>
                <a:latin typeface="Microsoft YaHei"/>
              </a:defRPr>
            </a:pPr>
            <a:r>
              <a:t>36 · 4096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10629900" y="2305050"/>
            <a:ext cx="1054100" cy="31115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10668000" y="2305050"/>
            <a:ext cx="977900" cy="311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700" b="0">
                <a:solidFill>
                  <a:srgbClr val="5E6B82"/>
                </a:solidFill>
                <a:latin typeface="Microsoft YaHei"/>
              </a:defRPr>
            </a:pPr>
            <a:r>
              <a:t>30 · 3072/768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7823200" y="2616200"/>
            <a:ext cx="952500" cy="311150"/>
          </a:xfrm>
          <a:prstGeom prst="rect">
            <a:avLst/>
          </a:prstGeom>
          <a:solidFill>
            <a:srgbClr val="EDF2F8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7861299" y="2616200"/>
            <a:ext cx="876300" cy="311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750" b="1">
                <a:solidFill>
                  <a:srgbClr val="14213D"/>
                </a:solidFill>
                <a:latin typeface="Microsoft YaHei"/>
              </a:defRPr>
            </a:pPr>
            <a:r>
              <a:t>FFN / 双流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8775700" y="2616200"/>
            <a:ext cx="927100" cy="311150"/>
          </a:xfrm>
          <a:prstGeom prst="rect">
            <a:avLst/>
          </a:prstGeom>
          <a:solidFill>
            <a:srgbClr val="F6F9FD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8813800" y="2616200"/>
            <a:ext cx="850900" cy="311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700" b="0">
                <a:solidFill>
                  <a:srgbClr val="5E6B82"/>
                </a:solidFill>
                <a:latin typeface="Microsoft YaHei"/>
              </a:defRPr>
            </a:pPr>
            <a:r>
              <a:t>9216 · MoT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9702800" y="2616200"/>
            <a:ext cx="927100" cy="311150"/>
          </a:xfrm>
          <a:prstGeom prst="rect">
            <a:avLst/>
          </a:prstGeom>
          <a:solidFill>
            <a:srgbClr val="F6F9FD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9740900" y="2616200"/>
            <a:ext cx="850900" cy="311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700" b="0">
                <a:solidFill>
                  <a:srgbClr val="5E6B82"/>
                </a:solidFill>
                <a:latin typeface="Microsoft YaHei"/>
              </a:defRPr>
            </a:pPr>
            <a:r>
              <a:t>12288 · MoT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10629900" y="2616200"/>
            <a:ext cx="1054100" cy="311150"/>
          </a:xfrm>
          <a:prstGeom prst="rect">
            <a:avLst/>
          </a:prstGeom>
          <a:solidFill>
            <a:srgbClr val="F6F9FD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10668000" y="2616200"/>
            <a:ext cx="977900" cy="311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700" b="0">
                <a:solidFill>
                  <a:srgbClr val="5E6B82"/>
                </a:solidFill>
                <a:latin typeface="Microsoft YaHei"/>
              </a:defRPr>
            </a:pPr>
            <a:r>
              <a:t>隔离 FFN 双流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7823200" y="2927350"/>
            <a:ext cx="952500" cy="311150"/>
          </a:xfrm>
          <a:prstGeom prst="rect">
            <a:avLst/>
          </a:prstGeom>
          <a:solidFill>
            <a:srgbClr val="EDF2F8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7861299" y="2927350"/>
            <a:ext cx="876300" cy="311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750" b="1">
                <a:solidFill>
                  <a:srgbClr val="14213D"/>
                </a:solidFill>
                <a:latin typeface="Microsoft YaHei"/>
              </a:defRPr>
            </a:pPr>
            <a:r>
              <a:t>动作 / 去噪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8775700" y="2927350"/>
            <a:ext cx="927100" cy="31115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8813800" y="2927350"/>
            <a:ext cx="850900" cy="311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700" b="0">
                <a:solidFill>
                  <a:srgbClr val="5E6B82"/>
                </a:solidFill>
                <a:latin typeface="Microsoft YaHei"/>
              </a:defRPr>
            </a:pPr>
            <a:r>
              <a:t>32×8 · 4 steps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9702800" y="2927350"/>
            <a:ext cx="927100" cy="31115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9740900" y="2927350"/>
            <a:ext cx="850900" cy="311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700" b="0">
                <a:solidFill>
                  <a:srgbClr val="5E6B82"/>
                </a:solidFill>
                <a:latin typeface="Microsoft YaHei"/>
              </a:defRPr>
            </a:pPr>
            <a:r>
              <a:t>32-step profile*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10629900" y="2927350"/>
            <a:ext cx="1054100" cy="31115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10668000" y="2927350"/>
            <a:ext cx="977900" cy="311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700" b="0">
                <a:solidFill>
                  <a:srgbClr val="5E6B82"/>
                </a:solidFill>
                <a:latin typeface="Microsoft YaHei"/>
              </a:defRPr>
            </a:pPr>
            <a:r>
              <a:t>K=4 · V3/A10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7823200" y="3238500"/>
            <a:ext cx="952500" cy="311150"/>
          </a:xfrm>
          <a:prstGeom prst="rect">
            <a:avLst/>
          </a:prstGeom>
          <a:solidFill>
            <a:srgbClr val="EDF2F8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7861299" y="3238500"/>
            <a:ext cx="876300" cy="311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750" b="1">
                <a:solidFill>
                  <a:srgbClr val="14213D"/>
                </a:solidFill>
                <a:latin typeface="Microsoft YaHei"/>
              </a:defRPr>
            </a:pPr>
            <a:r>
              <a:t>请求复杂度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8775700" y="3238500"/>
            <a:ext cx="927100" cy="311150"/>
          </a:xfrm>
          <a:prstGeom prst="rect">
            <a:avLst/>
          </a:prstGeom>
          <a:solidFill>
            <a:srgbClr val="F6F9FD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8813800" y="3238500"/>
            <a:ext cx="850900" cy="311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700" b="0">
                <a:solidFill>
                  <a:srgbClr val="5E6B82"/>
                </a:solidFill>
                <a:latin typeface="Microsoft YaHei"/>
              </a:defRPr>
            </a:pPr>
            <a:r>
              <a:t>8 MoT forwards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9702800" y="3238500"/>
            <a:ext cx="927100" cy="311150"/>
          </a:xfrm>
          <a:prstGeom prst="rect">
            <a:avLst/>
          </a:prstGeom>
          <a:solidFill>
            <a:srgbClr val="F6F9FD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9740900" y="3238500"/>
            <a:ext cx="850900" cy="311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700" b="0">
                <a:solidFill>
                  <a:srgbClr val="5E6B82"/>
                </a:solidFill>
                <a:latin typeface="Microsoft YaHei"/>
              </a:defRPr>
            </a:pPr>
            <a:r>
              <a:t>8 MoT forwards*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10629900" y="3238500"/>
            <a:ext cx="1054100" cy="311150"/>
          </a:xfrm>
          <a:prstGeom prst="rect">
            <a:avLst/>
          </a:prstGeom>
          <a:solidFill>
            <a:srgbClr val="F6F9FD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10668000" y="3238500"/>
            <a:ext cx="977900" cy="311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700" b="0">
                <a:solidFill>
                  <a:srgbClr val="5E6B82"/>
                </a:solidFill>
                <a:latin typeface="Microsoft YaHei"/>
              </a:defRPr>
            </a:pPr>
            <a:r>
              <a:t>异步因果双时标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7823200" y="3568700"/>
            <a:ext cx="3873499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650" b="0">
                <a:solidFill>
                  <a:srgbClr val="5E6B82"/>
                </a:solidFill>
                <a:latin typeface="Microsoft YaHei"/>
              </a:defRPr>
            </a:pPr>
            <a:r>
              <a:t>* Nano 为同一 profiling 配置口径；架构与 action chunk 是独立配置。</a:t>
            </a:r>
          </a:p>
        </p:txBody>
      </p:sp>
      <p:sp>
        <p:nvSpPr>
          <p:cNvPr id="250" name="Rounded Rectangle 249"/>
          <p:cNvSpPr/>
          <p:nvPr/>
        </p:nvSpPr>
        <p:spPr>
          <a:xfrm>
            <a:off x="7670800" y="3873499"/>
            <a:ext cx="4165600" cy="261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ounded Rectangle 250"/>
          <p:cNvSpPr/>
          <p:nvPr/>
        </p:nvSpPr>
        <p:spPr>
          <a:xfrm>
            <a:off x="7823200" y="4013200"/>
            <a:ext cx="279400" cy="215900"/>
          </a:xfrm>
          <a:prstGeom prst="roundRect">
            <a:avLst/>
          </a:prstGeom>
          <a:solidFill>
            <a:srgbClr val="20A464"/>
          </a:solidFill>
          <a:ln w="6350">
            <a:solidFill>
              <a:srgbClr val="20A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7823200" y="4013200"/>
            <a:ext cx="27940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8191500" y="3975100"/>
            <a:ext cx="31750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350" b="1">
                <a:solidFill>
                  <a:srgbClr val="14213D"/>
                </a:solidFill>
                <a:latin typeface="Microsoft YaHei"/>
              </a:defRPr>
            </a:pPr>
            <a:r>
              <a:t>具身关键创新与竞品定位</a:t>
            </a:r>
          </a:p>
        </p:txBody>
      </p:sp>
      <p:sp>
        <p:nvSpPr>
          <p:cNvPr id="254" name="Rounded Rectangle 253"/>
          <p:cNvSpPr/>
          <p:nvPr/>
        </p:nvSpPr>
        <p:spPr>
          <a:xfrm>
            <a:off x="7823200" y="4318000"/>
            <a:ext cx="1231900" cy="901700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ounded Rectangle 254"/>
          <p:cNvSpPr/>
          <p:nvPr/>
        </p:nvSpPr>
        <p:spPr>
          <a:xfrm>
            <a:off x="7823200" y="4318000"/>
            <a:ext cx="1231900" cy="44450"/>
          </a:xfrm>
          <a:prstGeom prst="roundRect">
            <a:avLst/>
          </a:prstGeom>
          <a:solidFill>
            <a:srgbClr val="1677FF"/>
          </a:solidFill>
          <a:ln w="6350"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7912100" y="4432300"/>
            <a:ext cx="1054100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900" b="1">
                <a:solidFill>
                  <a:srgbClr val="14213D"/>
                </a:solidFill>
                <a:latin typeface="Microsoft YaHei"/>
              </a:defRPr>
            </a:pPr>
            <a:r>
              <a:t>同体双塔 MoT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7899400" y="4648200"/>
            <a:ext cx="1079500" cy="508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600" b="0">
                <a:solidFill>
                  <a:srgbClr val="5E6B82"/>
                </a:solidFill>
                <a:latin typeface="Microsoft YaHei"/>
              </a:defRPr>
            </a:pPr>
            <a:r>
              <a:t>统一 foundation model</a:t>
            </a:r>
            <a:br/>
            <a:r>
              <a:t>覆盖 reasoning / generation</a:t>
            </a:r>
            <a:br/>
            <a:r>
              <a:t>/ action 三种模式</a:t>
            </a:r>
          </a:p>
        </p:txBody>
      </p:sp>
      <p:sp>
        <p:nvSpPr>
          <p:cNvPr id="258" name="Rounded Rectangle 257"/>
          <p:cNvSpPr/>
          <p:nvPr/>
        </p:nvSpPr>
        <p:spPr>
          <a:xfrm>
            <a:off x="9131300" y="4318000"/>
            <a:ext cx="1231900" cy="901700"/>
          </a:xfrm>
          <a:prstGeom prst="roundRect">
            <a:avLst/>
          </a:prstGeom>
          <a:solidFill>
            <a:srgbClr val="FFF5E4"/>
          </a:solidFill>
          <a:ln w="12700">
            <a:solidFill>
              <a:srgbClr val="E69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ounded Rectangle 258"/>
          <p:cNvSpPr/>
          <p:nvPr/>
        </p:nvSpPr>
        <p:spPr>
          <a:xfrm>
            <a:off x="9131300" y="4318000"/>
            <a:ext cx="1231900" cy="44450"/>
          </a:xfrm>
          <a:prstGeom prst="roundRect">
            <a:avLst/>
          </a:prstGeom>
          <a:solidFill>
            <a:srgbClr val="E69A24"/>
          </a:solidFill>
          <a:ln w="6350">
            <a:solidFill>
              <a:srgbClr val="E69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9220200" y="4432300"/>
            <a:ext cx="1054100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900" b="1">
                <a:solidFill>
                  <a:srgbClr val="14213D"/>
                </a:solidFill>
                <a:latin typeface="Microsoft YaHei"/>
              </a:defRPr>
            </a:pPr>
            <a:r>
              <a:t>Action-native Head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9207500" y="4648200"/>
            <a:ext cx="1079500" cy="508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600" b="0">
                <a:solidFill>
                  <a:srgbClr val="5E6B82"/>
                </a:solidFill>
                <a:latin typeface="Microsoft YaHei"/>
              </a:defRPr>
            </a:pPr>
            <a:r>
              <a:t>动作专属 I/O projection</a:t>
            </a:r>
            <a:br/>
            <a:r>
              <a:t>与 FFN；状态行和未来 action</a:t>
            </a:r>
            <a:br/>
            <a:r>
              <a:t>同序列扩散</a:t>
            </a:r>
          </a:p>
        </p:txBody>
      </p:sp>
      <p:sp>
        <p:nvSpPr>
          <p:cNvPr id="262" name="Rounded Rectangle 261"/>
          <p:cNvSpPr/>
          <p:nvPr/>
        </p:nvSpPr>
        <p:spPr>
          <a:xfrm>
            <a:off x="10439400" y="4318000"/>
            <a:ext cx="1231900" cy="901700"/>
          </a:xfrm>
          <a:prstGeom prst="roundRect">
            <a:avLst/>
          </a:prstGeom>
          <a:solidFill>
            <a:srgbClr val="EAF8F1"/>
          </a:solidFill>
          <a:ln w="12700">
            <a:solidFill>
              <a:srgbClr val="20A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ounded Rectangle 262"/>
          <p:cNvSpPr/>
          <p:nvPr/>
        </p:nvSpPr>
        <p:spPr>
          <a:xfrm>
            <a:off x="10439400" y="4318000"/>
            <a:ext cx="1231900" cy="44450"/>
          </a:xfrm>
          <a:prstGeom prst="roundRect">
            <a:avLst/>
          </a:prstGeom>
          <a:solidFill>
            <a:srgbClr val="20A464"/>
          </a:solidFill>
          <a:ln w="6350">
            <a:solidFill>
              <a:srgbClr val="20A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10528300" y="4432300"/>
            <a:ext cx="1054100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900" b="1">
                <a:solidFill>
                  <a:srgbClr val="14213D"/>
                </a:solidFill>
                <a:latin typeface="Microsoft YaHei"/>
              </a:defRPr>
            </a:pPr>
            <a:r>
              <a:t>视频-动作联合预测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10515600" y="4648200"/>
            <a:ext cx="1079500" cy="508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600" b="0">
                <a:solidFill>
                  <a:srgbClr val="5E6B82"/>
                </a:solidFill>
                <a:latin typeface="Microsoft YaHei"/>
              </a:defRPr>
            </a:pPr>
            <a:r>
              <a:t>future visual 作为辅助监督</a:t>
            </a:r>
            <a:br/>
            <a:r>
              <a:t>部署时可跳过 decoder</a:t>
            </a:r>
            <a:br/>
            <a:r>
              <a:t>降低端到端延迟</a:t>
            </a:r>
          </a:p>
        </p:txBody>
      </p:sp>
      <p:sp>
        <p:nvSpPr>
          <p:cNvPr id="266" name="Rounded Rectangle 265"/>
          <p:cNvSpPr/>
          <p:nvPr/>
        </p:nvSpPr>
        <p:spPr>
          <a:xfrm>
            <a:off x="7823200" y="5346700"/>
            <a:ext cx="3860800" cy="749300"/>
          </a:xfrm>
          <a:prstGeom prst="roundRect">
            <a:avLst/>
          </a:prstGeom>
          <a:solidFill>
            <a:srgbClr val="EDF2F8"/>
          </a:solidFill>
          <a:ln w="12700">
            <a:solidFill>
              <a:srgbClr val="AFC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ounded Rectangle 266"/>
          <p:cNvSpPr/>
          <p:nvPr/>
        </p:nvSpPr>
        <p:spPr>
          <a:xfrm>
            <a:off x="7924799" y="5441950"/>
            <a:ext cx="863600" cy="215900"/>
          </a:xfrm>
          <a:prstGeom prst="roundRect">
            <a:avLst/>
          </a:prstGeom>
          <a:solidFill>
            <a:srgbClr val="183B66"/>
          </a:solidFill>
          <a:ln w="6350">
            <a:solidFill>
              <a:srgbClr val="18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7924799" y="5441950"/>
            <a:ext cx="86360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vs LingBot-VA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8877300" y="5397500"/>
            <a:ext cx="2667000" cy="292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1">
                <a:solidFill>
                  <a:srgbClr val="183B66"/>
                </a:solidFill>
                <a:latin typeface="Microsoft YaHei"/>
              </a:defRPr>
            </a:pPr>
            <a:r>
              <a:t>优势在“统一模型迁移闭环”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7924799" y="5715000"/>
            <a:ext cx="35814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750" b="0">
                <a:solidFill>
                  <a:srgbClr val="5E6B82"/>
                </a:solidFill>
                <a:latin typeface="Microsoft YaHei"/>
              </a:defRPr>
            </a:pPr>
            <a:r>
              <a:t>Edge：同模型贯通理解→生成→动作；LingBot-VA：面向实时控制的因果双流。</a:t>
            </a:r>
            <a:br/>
            <a:r>
              <a:t>结论：能力边界更统一 ≠ 已证明实时吞吐更高。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355600" y="6584950"/>
            <a:ext cx="11480800" cy="139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650" b="0">
                <a:solidFill>
                  <a:srgbClr val="5E6B82"/>
                </a:solidFill>
                <a:latin typeface="Microsoft YaHei"/>
              </a:defRPr>
            </a:pPr>
            <a:r>
              <a:t>Sources: Cosmos 3 paper (arXiv:2606.02800v4) · NVIDIA Edge Policy model card · LingBot-VA paper/repo · local Edge/Nano profiling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10922000" y="6584950"/>
            <a:ext cx="914400" cy="139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650" b="1">
                <a:solidFill>
                  <a:srgbClr val="5E6B82"/>
                </a:solidFill>
                <a:latin typeface="Microsoft YaHei"/>
              </a:defRPr>
            </a:pPr>
            <a:r>
              <a:t>2026.08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NVIDIA Cosmos3-Edge 模型洞察与竞品分析</dc:title>
  <dc:subject>模型分析情况｜架构、参数与具身创新</dc:subject>
  <dc:creator>Cosmos Framework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